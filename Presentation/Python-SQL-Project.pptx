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7" r:id="rId9"/>
    <p:sldId id="266" r:id="rId10"/>
    <p:sldId id="265" r:id="rId11"/>
    <p:sldId id="264" r:id="rId12"/>
    <p:sldId id="270" r:id="rId13"/>
    <p:sldId id="274" r:id="rId14"/>
    <p:sldId id="273" r:id="rId15"/>
    <p:sldId id="272" r:id="rId16"/>
    <p:sldId id="271" r:id="rId17"/>
    <p:sldId id="275" r:id="rId18"/>
  </p:sldIdLst>
  <p:sldSz cx="12192000" cy="6858000"/>
  <p:notesSz cx="6858000" cy="9144000"/>
  <p:defaultTextStyle>
    <a:defPPr>
      <a:defRPr lang="en-N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4A77F-D94E-C2D5-33AC-62B8DF24AB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D8ABE4-8B3D-D74B-AC93-F366C745F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2DEB7-85F8-AC85-1162-26A23A610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E4F61-C802-AAF0-53EB-F782436D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FCC5E-8469-1D3E-5DFE-D8DDA5674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7313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79E93-3121-3980-192E-7D33B793C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DBDAA-E743-D1E0-8C9A-0411D25C6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8BB2FC-5FB1-89CB-B3DD-98280D406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37A64-04C7-985E-AB06-D506C4885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87ECD-0297-C6B9-F687-BC0C17878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777612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93A58-56CB-2B2D-BEC1-B260CF17F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EFFDE3-6732-5D03-B737-2668481FB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A1B49-1C97-A906-5995-ECC8969E7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F65FA-D8F6-79FD-AD60-869AA9134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C57C5-4DFB-5673-591E-9EC55EE2C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21032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3FA9E-0780-2981-B18B-64B90B9B5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6E7E3-1C4F-9045-0322-F65B1CF808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1CEE5F-4244-0235-7B6E-2801EEA0CE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3C9BCF-F686-7C02-25A2-7D2258C8B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3BFF20-B2A5-68AE-D230-8C0BBC3C7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775CE3-E2E5-0632-93AC-3D63C975B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241707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8495-CC8B-E05C-D896-ADE87DFB1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02948-08E1-0671-5834-6ABA7E645F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EDAA02-90E4-AC7A-9020-518A3A119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109BC7-D9AB-DE5A-2AAC-04E1FBDE37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203929-3D06-90AA-1276-A336A150CB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A021C7-00DE-76A4-BB3B-AE84180E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DFDDDC-43CE-5F75-6FD3-1583B16BE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7C46A3-C08A-5C58-AEF0-BD4C7C7B7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757517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19BE3-5D1A-F43E-1188-8FBC7A897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84D798-DD38-A7F2-F177-3E0AC85B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9C3E6-7853-4C4D-F4B5-90074BE13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F07A9D-D714-E827-597B-C9FD5A816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994768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B9E5EA-34B6-B3CC-5A00-129B87647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5FB83A-8D65-8658-8F89-16E06B1D2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A51F0-645A-59D3-D126-F479BED72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1119694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EE6AB-0A3C-B9DC-FB70-45108161F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56DEC9-19C3-D642-CB88-DE66C12B1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47B64A-0079-EC50-1D3F-2BBB25D11D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BE1512-64CF-9088-3BA0-BA05BEF99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A4CFB8-A0E5-B2F7-B68F-54430C7ED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51ACF5-766B-2140-0835-023968517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2674576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C963E-7C89-575F-E7F0-4D53F63FD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9CEAAF-3FBA-5640-3EEB-07D84E9CAD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E2746-B178-4A50-E656-5CC7880C3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03D9B6-3EC3-4C25-B87D-CF52AD9D2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2C1C73-560C-CD65-AF61-3A0B64AB7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01D29-5272-532D-A512-9A6FB0FC9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128350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FB459-32E6-3EF0-DE80-19B27C7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D53A35-0496-BF9E-D4BB-9B797405A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18670-595C-8F9E-21A2-8B9D46394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AD2D7-5D67-5CD4-D92F-9A22AD5E7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CAFB0-B106-8BE3-CA7D-05EA1EB2E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332737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269691-A43C-1A16-A5DB-BFF4FF13CF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8D88AB-6A1E-002B-7CE6-A63E8FCA1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A3BC6-12ED-A262-63C1-006662745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BEB738-76E5-0E37-7EDD-4773F4E0B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A1EE0-19CA-DA10-EC2D-5DF85AA13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273844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9C4EE8-DD45-636D-6D21-D33DB3CEF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10A03D-79FC-C04E-C338-FCC3236E1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4D805F-CE2B-3D1F-6120-C1D211C624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0EC8B0-ADB2-4142-B90B-D8076566A301}" type="datetimeFigureOut">
              <a:rPr lang="en-NG" smtClean="0"/>
              <a:t>05/05/2026</a:t>
            </a:fld>
            <a:endParaRPr lang="en-N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18891-B97E-C9AC-1F17-C349052DF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A15BE8-087A-3E16-8E45-55528CA7F7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CDE9E-E409-42D8-9A82-E065822156A4}" type="slidenum">
              <a:rPr lang="en-NG" smtClean="0"/>
              <a:t>‹#›</a:t>
            </a:fld>
            <a:endParaRPr lang="en-NG"/>
          </a:p>
        </p:txBody>
      </p:sp>
    </p:spTree>
    <p:extLst>
      <p:ext uri="{BB962C8B-B14F-4D97-AF65-F5344CB8AC3E}">
        <p14:creationId xmlns:p14="http://schemas.microsoft.com/office/powerpoint/2010/main" val="4086619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9C6B1-D6BC-B0FC-9BC7-6A2568C2B6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40582"/>
            <a:ext cx="9144000" cy="1502850"/>
          </a:xfrm>
        </p:spPr>
        <p:txBody>
          <a:bodyPr/>
          <a:lstStyle/>
          <a:p>
            <a:r>
              <a:rPr lang="fr-FR" b="1" spc="-10" dirty="0">
                <a:latin typeface="Calibri"/>
                <a:cs typeface="Calibri"/>
              </a:rPr>
              <a:t>Python-SQL-Project</a:t>
            </a:r>
            <a:endParaRPr lang="en-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1190E8-863D-AC0C-8683-96BD9D5FF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30245"/>
            <a:ext cx="9144000" cy="3618271"/>
          </a:xfrm>
        </p:spPr>
        <p:txBody>
          <a:bodyPr>
            <a:normAutofit fontScale="70000" lnSpcReduction="20000"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b="1" spc="-10" dirty="0">
                <a:cs typeface="Calibri"/>
              </a:rPr>
              <a:t>Objective</a:t>
            </a:r>
            <a:endParaRPr lang="en-US" dirty="0">
              <a:cs typeface="Calibri"/>
            </a:endParaRPr>
          </a:p>
          <a:p>
            <a:pPr marL="12700" marR="106045" algn="just">
              <a:lnSpc>
                <a:spcPct val="117900"/>
              </a:lnSpc>
              <a:spcBef>
                <a:spcPts val="795"/>
              </a:spcBef>
            </a:pPr>
            <a:r>
              <a:rPr lang="en-US" dirty="0">
                <a:cs typeface="Calibri"/>
              </a:rPr>
              <a:t>The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primary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goal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of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this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project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was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bridge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40" dirty="0">
                <a:cs typeface="Calibri"/>
              </a:rPr>
              <a:t> </a:t>
            </a:r>
            <a:r>
              <a:rPr lang="en-US" dirty="0">
                <a:cs typeface="Calibri"/>
              </a:rPr>
              <a:t>gap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between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raw</a:t>
            </a:r>
            <a:r>
              <a:rPr lang="en-US" spc="-35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3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storage</a:t>
            </a:r>
            <a:r>
              <a:rPr lang="en-US" spc="-25" dirty="0">
                <a:cs typeface="Calibri"/>
              </a:rPr>
              <a:t> and </a:t>
            </a:r>
            <a:r>
              <a:rPr lang="en-US" spc="-10" dirty="0">
                <a:cs typeface="Calibri"/>
              </a:rPr>
              <a:t>strategic</a:t>
            </a:r>
            <a:r>
              <a:rPr lang="en-US" spc="-2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decision-</a:t>
            </a:r>
            <a:r>
              <a:rPr lang="en-US" dirty="0">
                <a:cs typeface="Calibri"/>
              </a:rPr>
              <a:t>making.</a:t>
            </a:r>
            <a:r>
              <a:rPr lang="en-US" spc="-20" dirty="0">
                <a:cs typeface="Calibri"/>
              </a:rPr>
              <a:t> </a:t>
            </a:r>
            <a:r>
              <a:rPr lang="en-US" dirty="0">
                <a:cs typeface="Calibri"/>
              </a:rPr>
              <a:t>By</a:t>
            </a:r>
            <a:r>
              <a:rPr lang="en-US" spc="-1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integrating</a:t>
            </a:r>
            <a:r>
              <a:rPr lang="en-US" spc="-15" dirty="0">
                <a:cs typeface="Calibri"/>
              </a:rPr>
              <a:t> </a:t>
            </a:r>
            <a:r>
              <a:rPr lang="en-US" dirty="0">
                <a:cs typeface="Calibri"/>
              </a:rPr>
              <a:t>SQL</a:t>
            </a:r>
            <a:r>
              <a:rPr lang="en-US" spc="-20" dirty="0">
                <a:cs typeface="Calibri"/>
              </a:rPr>
              <a:t> </a:t>
            </a:r>
            <a:r>
              <a:rPr lang="en-US" dirty="0">
                <a:cs typeface="Calibri"/>
              </a:rPr>
              <a:t>for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2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extraction</a:t>
            </a:r>
            <a:r>
              <a:rPr lang="en-US" spc="-20" dirty="0">
                <a:cs typeface="Calibri"/>
              </a:rPr>
              <a:t> </a:t>
            </a:r>
            <a:r>
              <a:rPr lang="en-US" dirty="0">
                <a:cs typeface="Calibri"/>
              </a:rPr>
              <a:t>and</a:t>
            </a:r>
            <a:r>
              <a:rPr lang="en-US" spc="-10" dirty="0">
                <a:cs typeface="Calibri"/>
              </a:rPr>
              <a:t> </a:t>
            </a:r>
            <a:r>
              <a:rPr lang="en-US" dirty="0">
                <a:cs typeface="Calibri"/>
              </a:rPr>
              <a:t>Python</a:t>
            </a:r>
            <a:r>
              <a:rPr lang="en-US" spc="-5" dirty="0">
                <a:cs typeface="Calibri"/>
              </a:rPr>
              <a:t> </a:t>
            </a:r>
            <a:r>
              <a:rPr lang="en-US" dirty="0">
                <a:cs typeface="Calibri"/>
              </a:rPr>
              <a:t>for</a:t>
            </a:r>
            <a:r>
              <a:rPr lang="en-US" spc="-2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advanced </a:t>
            </a:r>
            <a:r>
              <a:rPr lang="en-US" dirty="0">
                <a:cs typeface="Calibri"/>
              </a:rPr>
              <a:t>analytics,</a:t>
            </a:r>
            <a:r>
              <a:rPr lang="en-US" spc="-20" dirty="0">
                <a:cs typeface="Calibri"/>
              </a:rPr>
              <a:t> </a:t>
            </a:r>
            <a:r>
              <a:rPr lang="en-US" dirty="0">
                <a:cs typeface="Calibri"/>
              </a:rPr>
              <a:t>I</a:t>
            </a:r>
            <a:r>
              <a:rPr lang="en-US" spc="-2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developed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cs typeface="Calibri"/>
              </a:rPr>
              <a:t>a</a:t>
            </a:r>
            <a:r>
              <a:rPr lang="en-US" spc="-2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comprehensive</a:t>
            </a:r>
            <a:r>
              <a:rPr lang="en-US" spc="-20" dirty="0">
                <a:cs typeface="Calibri"/>
              </a:rPr>
              <a:t> </a:t>
            </a:r>
            <a:r>
              <a:rPr lang="en-US" dirty="0">
                <a:cs typeface="Calibri"/>
              </a:rPr>
              <a:t>pipeline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10" dirty="0">
                <a:cs typeface="Calibri"/>
              </a:rPr>
              <a:t> </a:t>
            </a:r>
            <a:r>
              <a:rPr lang="en-US" dirty="0">
                <a:cs typeface="Calibri"/>
              </a:rPr>
              <a:t>uncover</a:t>
            </a:r>
            <a:r>
              <a:rPr lang="en-US" spc="-15" dirty="0">
                <a:cs typeface="Calibri"/>
              </a:rPr>
              <a:t> </a:t>
            </a:r>
            <a:r>
              <a:rPr lang="en-US" dirty="0">
                <a:cs typeface="Calibri"/>
              </a:rPr>
              <a:t>trends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cs typeface="Calibri"/>
              </a:rPr>
              <a:t>and</a:t>
            </a:r>
            <a:r>
              <a:rPr lang="en-US" spc="-2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patterns</a:t>
            </a:r>
            <a:r>
              <a:rPr lang="en-US" spc="-1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within</a:t>
            </a:r>
            <a:endParaRPr lang="en-US" dirty="0">
              <a:cs typeface="Calibri"/>
            </a:endParaRPr>
          </a:p>
          <a:p>
            <a:pPr marL="12700" algn="just">
              <a:lnSpc>
                <a:spcPct val="100000"/>
              </a:lnSpc>
              <a:spcBef>
                <a:spcPts val="254"/>
              </a:spcBef>
            </a:pPr>
            <a:r>
              <a:rPr lang="en-US" spc="-10" dirty="0">
                <a:cs typeface="Calibri"/>
              </a:rPr>
              <a:t>complex</a:t>
            </a:r>
            <a:r>
              <a:rPr lang="en-US" spc="-2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datasets.</a:t>
            </a:r>
            <a:endParaRPr lang="en-US" dirty="0"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lang="en-US" b="1" dirty="0">
                <a:cs typeface="Calibri"/>
              </a:rPr>
              <a:t>Key</a:t>
            </a:r>
            <a:r>
              <a:rPr lang="en-US" b="1" spc="-40" dirty="0">
                <a:cs typeface="Calibri"/>
              </a:rPr>
              <a:t> </a:t>
            </a:r>
            <a:r>
              <a:rPr lang="en-US" b="1" dirty="0">
                <a:cs typeface="Calibri"/>
              </a:rPr>
              <a:t>Components</a:t>
            </a:r>
            <a:r>
              <a:rPr lang="en-US" b="1" spc="-35" dirty="0">
                <a:cs typeface="Calibri"/>
              </a:rPr>
              <a:t> </a:t>
            </a:r>
            <a:r>
              <a:rPr lang="en-US" b="1" dirty="0">
                <a:cs typeface="Calibri"/>
              </a:rPr>
              <a:t>of</a:t>
            </a:r>
            <a:r>
              <a:rPr lang="en-US" b="1" spc="-25" dirty="0">
                <a:cs typeface="Calibri"/>
              </a:rPr>
              <a:t> </a:t>
            </a:r>
            <a:r>
              <a:rPr lang="en-US" b="1" dirty="0">
                <a:cs typeface="Calibri"/>
              </a:rPr>
              <a:t>My</a:t>
            </a:r>
            <a:r>
              <a:rPr lang="en-US" b="1" spc="-45" dirty="0">
                <a:cs typeface="Calibri"/>
              </a:rPr>
              <a:t> </a:t>
            </a:r>
            <a:r>
              <a:rPr lang="en-US" b="1" spc="-20" dirty="0">
                <a:cs typeface="Calibri"/>
              </a:rPr>
              <a:t>Work</a:t>
            </a:r>
            <a:endParaRPr lang="en-US" dirty="0">
              <a:cs typeface="Calibri"/>
            </a:endParaRPr>
          </a:p>
          <a:p>
            <a:pPr marL="469265" marR="179070" indent="-228600" algn="just">
              <a:lnSpc>
                <a:spcPct val="116700"/>
              </a:lnSpc>
              <a:spcBef>
                <a:spcPts val="890"/>
              </a:spcBef>
              <a:buFont typeface="Symbol"/>
              <a:buChar char=""/>
              <a:tabLst>
                <a:tab pos="469265" algn="l"/>
              </a:tabLst>
            </a:pPr>
            <a:r>
              <a:rPr lang="en-US" b="1" dirty="0">
                <a:cs typeface="Calibri"/>
              </a:rPr>
              <a:t>Data</a:t>
            </a:r>
            <a:r>
              <a:rPr lang="en-US" b="1" spc="-30" dirty="0">
                <a:cs typeface="Calibri"/>
              </a:rPr>
              <a:t> </a:t>
            </a:r>
            <a:r>
              <a:rPr lang="en-US" b="1" spc="-10" dirty="0">
                <a:cs typeface="Calibri"/>
              </a:rPr>
              <a:t>Orchestration:</a:t>
            </a:r>
            <a:r>
              <a:rPr lang="en-US" b="1" spc="-15" dirty="0">
                <a:cs typeface="Calibri"/>
              </a:rPr>
              <a:t> </a:t>
            </a:r>
            <a:r>
              <a:rPr lang="en-US" dirty="0">
                <a:cs typeface="Calibri"/>
              </a:rPr>
              <a:t>Managed</a:t>
            </a:r>
            <a:r>
              <a:rPr lang="en-US" spc="-1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large-</a:t>
            </a:r>
            <a:r>
              <a:rPr lang="en-US" dirty="0">
                <a:cs typeface="Calibri"/>
              </a:rPr>
              <a:t>scale</a:t>
            </a:r>
            <a:r>
              <a:rPr lang="en-US" spc="-2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datasets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cs typeface="Calibri"/>
              </a:rPr>
              <a:t>using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SQL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perform</a:t>
            </a:r>
            <a:r>
              <a:rPr lang="en-US" spc="-2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complex </a:t>
            </a:r>
            <a:r>
              <a:rPr lang="en-US" dirty="0">
                <a:cs typeface="Calibri"/>
              </a:rPr>
              <a:t>joins,</a:t>
            </a:r>
            <a:r>
              <a:rPr lang="en-US" spc="-10" dirty="0">
                <a:cs typeface="Calibri"/>
              </a:rPr>
              <a:t> aggregations,</a:t>
            </a:r>
            <a:r>
              <a:rPr lang="en-US" spc="-5" dirty="0">
                <a:cs typeface="Calibri"/>
              </a:rPr>
              <a:t> </a:t>
            </a:r>
            <a:r>
              <a:rPr lang="en-US" dirty="0">
                <a:cs typeface="Calibri"/>
              </a:rPr>
              <a:t>and</a:t>
            </a:r>
            <a:r>
              <a:rPr lang="en-US" spc="-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subqueries.</a:t>
            </a:r>
            <a:endParaRPr lang="en-US" dirty="0">
              <a:cs typeface="Calibri"/>
            </a:endParaRPr>
          </a:p>
          <a:p>
            <a:pPr marL="469265" marR="78105" indent="-228600" algn="just">
              <a:lnSpc>
                <a:spcPct val="116700"/>
              </a:lnSpc>
              <a:spcBef>
                <a:spcPts val="100"/>
              </a:spcBef>
              <a:buFont typeface="Symbol"/>
              <a:buChar char=""/>
              <a:tabLst>
                <a:tab pos="469265" algn="l"/>
              </a:tabLst>
            </a:pPr>
            <a:r>
              <a:rPr lang="en-US" b="1" dirty="0">
                <a:cs typeface="Calibri"/>
              </a:rPr>
              <a:t>Advanced</a:t>
            </a:r>
            <a:r>
              <a:rPr lang="en-US" b="1" spc="-25" dirty="0">
                <a:cs typeface="Calibri"/>
              </a:rPr>
              <a:t> </a:t>
            </a:r>
            <a:r>
              <a:rPr lang="en-US" b="1" dirty="0">
                <a:cs typeface="Calibri"/>
              </a:rPr>
              <a:t>Analytics:</a:t>
            </a:r>
            <a:r>
              <a:rPr lang="en-US" b="1" spc="-15" dirty="0">
                <a:cs typeface="Calibri"/>
              </a:rPr>
              <a:t> </a:t>
            </a:r>
            <a:r>
              <a:rPr lang="en-US" dirty="0">
                <a:cs typeface="Calibri"/>
              </a:rPr>
              <a:t>Leveraged</a:t>
            </a:r>
            <a:r>
              <a:rPr lang="en-US" spc="-5" dirty="0">
                <a:cs typeface="Calibri"/>
              </a:rPr>
              <a:t> </a:t>
            </a:r>
            <a:r>
              <a:rPr lang="en-US" dirty="0">
                <a:cs typeface="Calibri"/>
              </a:rPr>
              <a:t>Python</a:t>
            </a:r>
            <a:r>
              <a:rPr lang="en-US" spc="-10" dirty="0">
                <a:cs typeface="Calibri"/>
              </a:rPr>
              <a:t> (Pandas/NumPy)</a:t>
            </a:r>
            <a:r>
              <a:rPr lang="en-US" spc="-20" dirty="0">
                <a:cs typeface="Calibri"/>
              </a:rPr>
              <a:t> </a:t>
            </a:r>
            <a:r>
              <a:rPr lang="en-US" dirty="0">
                <a:cs typeface="Calibri"/>
              </a:rPr>
              <a:t>to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clean,</a:t>
            </a:r>
            <a:r>
              <a:rPr lang="en-US" spc="-2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manipulate,</a:t>
            </a:r>
            <a:r>
              <a:rPr lang="en-US" spc="-15" dirty="0">
                <a:cs typeface="Calibri"/>
              </a:rPr>
              <a:t> </a:t>
            </a:r>
            <a:r>
              <a:rPr lang="en-US" spc="-25" dirty="0">
                <a:cs typeface="Calibri"/>
              </a:rPr>
              <a:t>and </a:t>
            </a:r>
            <a:r>
              <a:rPr lang="en-US" dirty="0">
                <a:cs typeface="Calibri"/>
              </a:rPr>
              <a:t>perform</a:t>
            </a:r>
            <a:r>
              <a:rPr lang="en-US" spc="-30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statistical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cs typeface="Calibri"/>
              </a:rPr>
              <a:t>analysis</a:t>
            </a:r>
            <a:r>
              <a:rPr lang="en-US" spc="-30" dirty="0">
                <a:cs typeface="Calibri"/>
              </a:rPr>
              <a:t> </a:t>
            </a:r>
            <a:r>
              <a:rPr lang="en-US" dirty="0">
                <a:cs typeface="Calibri"/>
              </a:rPr>
              <a:t>on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cs typeface="Calibri"/>
              </a:rPr>
              <a:t>the</a:t>
            </a:r>
            <a:r>
              <a:rPr lang="en-US" spc="-2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extracted</a:t>
            </a:r>
            <a:r>
              <a:rPr lang="en-US" spc="-30" dirty="0">
                <a:cs typeface="Calibri"/>
              </a:rPr>
              <a:t> </a:t>
            </a:r>
            <a:r>
              <a:rPr lang="en-US" spc="-20" dirty="0">
                <a:cs typeface="Calibri"/>
              </a:rPr>
              <a:t>data.</a:t>
            </a:r>
            <a:endParaRPr lang="en-US" dirty="0">
              <a:cs typeface="Calibri"/>
            </a:endParaRPr>
          </a:p>
          <a:p>
            <a:pPr marL="469265" marR="5080" indent="-228600" algn="just">
              <a:lnSpc>
                <a:spcPct val="117500"/>
              </a:lnSpc>
              <a:spcBef>
                <a:spcPts val="80"/>
              </a:spcBef>
              <a:buFont typeface="Symbol"/>
              <a:buChar char=""/>
              <a:tabLst>
                <a:tab pos="469265" algn="l"/>
              </a:tabLst>
            </a:pPr>
            <a:r>
              <a:rPr lang="en-US" b="1" dirty="0">
                <a:cs typeface="Calibri"/>
              </a:rPr>
              <a:t>Visual</a:t>
            </a:r>
            <a:r>
              <a:rPr lang="en-US" b="1" spc="-15" dirty="0">
                <a:cs typeface="Calibri"/>
              </a:rPr>
              <a:t> </a:t>
            </a:r>
            <a:r>
              <a:rPr lang="en-US" b="1" spc="-10" dirty="0">
                <a:cs typeface="Calibri"/>
              </a:rPr>
              <a:t>Intelligence:</a:t>
            </a:r>
            <a:r>
              <a:rPr lang="en-US" b="1" spc="-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Created </a:t>
            </a:r>
            <a:r>
              <a:rPr lang="en-US" dirty="0">
                <a:cs typeface="Calibri"/>
              </a:rPr>
              <a:t>dynamic</a:t>
            </a:r>
            <a:r>
              <a:rPr lang="en-US" spc="-20" dirty="0">
                <a:cs typeface="Calibri"/>
              </a:rPr>
              <a:t> </a:t>
            </a:r>
            <a:r>
              <a:rPr lang="en-US" dirty="0">
                <a:cs typeface="Calibri"/>
              </a:rPr>
              <a:t>Data</a:t>
            </a:r>
            <a:r>
              <a:rPr lang="en-US" spc="-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Visualizations </a:t>
            </a:r>
            <a:r>
              <a:rPr lang="en-US" dirty="0">
                <a:cs typeface="Calibri"/>
              </a:rPr>
              <a:t>(using</a:t>
            </a:r>
            <a:r>
              <a:rPr lang="en-US" spc="-10" dirty="0">
                <a:cs typeface="Calibri"/>
              </a:rPr>
              <a:t> Matplotlib/Seaborn) </a:t>
            </a:r>
            <a:r>
              <a:rPr lang="en-US" dirty="0">
                <a:cs typeface="Calibri"/>
              </a:rPr>
              <a:t>to</a:t>
            </a:r>
            <a:r>
              <a:rPr lang="en-US" spc="-10" dirty="0">
                <a:cs typeface="Calibri"/>
              </a:rPr>
              <a:t> translate</a:t>
            </a:r>
            <a:r>
              <a:rPr lang="en-US" spc="-25" dirty="0">
                <a:cs typeface="Calibri"/>
              </a:rPr>
              <a:t> </a:t>
            </a:r>
            <a:r>
              <a:rPr lang="en-US" dirty="0">
                <a:cs typeface="Calibri"/>
              </a:rPr>
              <a:t>technical findings</a:t>
            </a:r>
            <a:r>
              <a:rPr lang="en-US" spc="-10" dirty="0">
                <a:cs typeface="Calibri"/>
              </a:rPr>
              <a:t> </a:t>
            </a:r>
            <a:r>
              <a:rPr lang="en-US" dirty="0">
                <a:cs typeface="Calibri"/>
              </a:rPr>
              <a:t>into</a:t>
            </a:r>
            <a:r>
              <a:rPr lang="en-US" spc="-2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intuitive,</a:t>
            </a:r>
            <a:r>
              <a:rPr lang="en-US" spc="-15" dirty="0">
                <a:cs typeface="Calibri"/>
              </a:rPr>
              <a:t> </a:t>
            </a:r>
            <a:r>
              <a:rPr lang="en-US" spc="-20" dirty="0">
                <a:cs typeface="Calibri"/>
              </a:rPr>
              <a:t>easy-</a:t>
            </a:r>
            <a:r>
              <a:rPr lang="en-US" spc="-10" dirty="0">
                <a:cs typeface="Calibri"/>
              </a:rPr>
              <a:t>to-understand</a:t>
            </a:r>
            <a:r>
              <a:rPr lang="en-US" spc="-15" dirty="0">
                <a:cs typeface="Calibri"/>
              </a:rPr>
              <a:t> </a:t>
            </a:r>
            <a:r>
              <a:rPr lang="en-US" spc="-10" dirty="0">
                <a:cs typeface="Calibri"/>
              </a:rPr>
              <a:t>charts</a:t>
            </a:r>
            <a:endParaRPr lang="en-US" dirty="0">
              <a:cs typeface="Calibri"/>
            </a:endParaRPr>
          </a:p>
          <a:p>
            <a:endParaRPr lang="en-NG" dirty="0"/>
          </a:p>
        </p:txBody>
      </p:sp>
    </p:spTree>
    <p:extLst>
      <p:ext uri="{BB962C8B-B14F-4D97-AF65-F5344CB8AC3E}">
        <p14:creationId xmlns:p14="http://schemas.microsoft.com/office/powerpoint/2010/main" val="200859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F04E7-D76E-C607-2F54-B8234451F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896463"/>
            <a:ext cx="10515600" cy="382127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Calibri"/>
                <a:cs typeface="Calibri"/>
              </a:rPr>
              <a:t>Q1.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List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all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unique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cities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where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spc="-10" dirty="0">
                <a:latin typeface="Calibri"/>
                <a:cs typeface="Calibri"/>
              </a:rPr>
              <a:t>customers</a:t>
            </a:r>
            <a:r>
              <a:rPr lang="en-US" sz="1800" b="1" spc="-3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are</a:t>
            </a:r>
            <a:r>
              <a:rPr lang="en-US" sz="1800" b="1" spc="-30" dirty="0">
                <a:latin typeface="Calibri"/>
                <a:cs typeface="Calibri"/>
              </a:rPr>
              <a:t> </a:t>
            </a:r>
            <a:r>
              <a:rPr lang="en-US" sz="1800" b="1" spc="-10" dirty="0">
                <a:latin typeface="Calibri"/>
                <a:cs typeface="Calibri"/>
              </a:rPr>
              <a:t>located.</a:t>
            </a:r>
            <a:endParaRPr lang="en-NG" sz="1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5CC65E-1E7F-54A8-1F3D-B4A3ADBE9E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89818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CB9D615-3727-2F72-1761-553A8C4245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2035278"/>
            <a:ext cx="5157787" cy="3049056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27FDD9-EE64-70BB-5F17-07F511F76B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92645" y="1563099"/>
            <a:ext cx="5183188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87047A-8CA8-8B92-63B1-9143C44988F8}"/>
              </a:ext>
            </a:extLst>
          </p:cNvPr>
          <p:cNvSpPr txBox="1">
            <a:spLocks/>
          </p:cNvSpPr>
          <p:nvPr/>
        </p:nvSpPr>
        <p:spPr>
          <a:xfrm>
            <a:off x="836612" y="367249"/>
            <a:ext cx="10515600" cy="3821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b="1" dirty="0">
                <a:latin typeface="Calibri"/>
                <a:cs typeface="Calibri"/>
              </a:rPr>
              <a:t>Basic Level Question</a:t>
            </a:r>
            <a:endParaRPr lang="en-NG" sz="20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878CC43-0C3A-C8FE-9B8C-A7116CEBE08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196157"/>
            <a:ext cx="5183188" cy="3049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45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B8739-86E6-78C5-E412-C89EF2EC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70653-6965-9FDB-77A9-C45C8899A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Calibri"/>
                <a:cs typeface="Calibri"/>
              </a:rPr>
              <a:t>Q2.</a:t>
            </a:r>
            <a:r>
              <a:rPr lang="en-US" sz="1800" b="1" spc="-3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Count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the</a:t>
            </a:r>
            <a:r>
              <a:rPr lang="en-US" sz="1800" b="1" spc="-4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number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of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orders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placed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in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spc="-20" dirty="0">
                <a:latin typeface="Calibri"/>
                <a:cs typeface="Calibri"/>
              </a:rPr>
              <a:t>2017</a:t>
            </a:r>
            <a:endParaRPr lang="en-NG" sz="1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E19C4-35F2-A6F1-E447-56EC3E1AD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9D683-0FD9-FE4E-6914-D8D2298D8F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963331"/>
            <a:ext cx="5183188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C2CA917-361C-1A38-BD03-00534DAB422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1759974"/>
            <a:ext cx="5157787" cy="3687097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C48CE0D-657C-C413-BDA3-D623E2711C3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1711" y="1848465"/>
            <a:ext cx="4944165" cy="3851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77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A90EE-31C4-EEFC-875B-77846E971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88D0C-86D2-3157-6FBF-0AAA99D9C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Calibri"/>
                <a:cs typeface="Calibri"/>
              </a:rPr>
              <a:t>Q3.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Find</a:t>
            </a:r>
            <a:r>
              <a:rPr lang="en-US" sz="1800" b="1" spc="-2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the</a:t>
            </a:r>
            <a:r>
              <a:rPr lang="en-US" sz="1800" b="1" spc="-3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total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sales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per</a:t>
            </a:r>
            <a:r>
              <a:rPr lang="en-US" sz="1800" b="1" spc="-20" dirty="0">
                <a:latin typeface="Calibri"/>
                <a:cs typeface="Calibri"/>
              </a:rPr>
              <a:t> </a:t>
            </a:r>
            <a:r>
              <a:rPr lang="en-US" sz="1800" b="1" spc="-10" dirty="0">
                <a:latin typeface="Calibri"/>
                <a:cs typeface="Calibri"/>
              </a:rPr>
              <a:t>category</a:t>
            </a:r>
            <a:endParaRPr lang="en-NG" sz="1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7EEC2C-AF98-DB0D-D6E7-FEE8CA983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0D452-2D5C-F1EE-1BC6-D36ACD955C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58116" y="963331"/>
            <a:ext cx="4395019" cy="382127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B32642A2-EEF4-5B1E-FFBF-676148F6F0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1396795"/>
            <a:ext cx="5157786" cy="4792868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49D3466-7395-098B-94E1-8D1C79AC8D7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9457" y="1464699"/>
            <a:ext cx="4591665" cy="4724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469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541DE-39A2-7FD3-9C24-A982C3F9F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D9E3B-67D0-7A9B-F2B4-2254A55D1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Calibri"/>
                <a:cs typeface="Calibri"/>
              </a:rPr>
              <a:t>Q4.</a:t>
            </a:r>
            <a:r>
              <a:rPr lang="en-US" sz="1800" b="1" spc="-20" dirty="0">
                <a:latin typeface="Calibri"/>
                <a:cs typeface="Calibri"/>
              </a:rPr>
              <a:t> </a:t>
            </a:r>
            <a:r>
              <a:rPr lang="en-US" sz="1800" b="1" spc="-10" dirty="0">
                <a:latin typeface="Calibri"/>
                <a:cs typeface="Calibri"/>
              </a:rPr>
              <a:t>Calculate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the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spc="-10" dirty="0">
                <a:latin typeface="Calibri"/>
                <a:cs typeface="Calibri"/>
              </a:rPr>
              <a:t>percentage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of</a:t>
            </a:r>
            <a:r>
              <a:rPr lang="en-US" sz="1800" b="1" spc="-2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orders</a:t>
            </a:r>
            <a:r>
              <a:rPr lang="en-US" sz="1800" b="1" spc="-2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that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were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paid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in</a:t>
            </a:r>
            <a:r>
              <a:rPr lang="en-US" sz="1800" b="1" spc="-3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more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than</a:t>
            </a:r>
            <a:r>
              <a:rPr lang="en-US" sz="1800" b="1" spc="-1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one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spc="-10" dirty="0">
                <a:latin typeface="Calibri"/>
                <a:cs typeface="Calibri"/>
              </a:rPr>
              <a:t>installment.</a:t>
            </a:r>
            <a:endParaRPr lang="en-US" sz="1800" dirty="0">
              <a:latin typeface="Calibri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8951-FB19-69BD-9770-28A4E37EA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BE0A6-22E7-0629-9892-99A734305E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38452" y="929379"/>
            <a:ext cx="4109883" cy="382127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22F88CA6-57B4-0215-F8DF-8DD30841CFD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1" y="1311973"/>
            <a:ext cx="5183188" cy="3941520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1123F7C-FAD2-07DE-610B-BEFC9B47284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311973"/>
            <a:ext cx="5183188" cy="4457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063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084DC-1F60-8A61-44FC-6DE453B7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CB779-5042-AAB2-B2BF-7C92D9C9B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1" y="391603"/>
            <a:ext cx="10515600" cy="382127"/>
          </a:xfrm>
        </p:spPr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Calibri"/>
                <a:cs typeface="Calibri"/>
              </a:rPr>
              <a:t>Q5.</a:t>
            </a:r>
            <a:r>
              <a:rPr lang="en-US" sz="1800" b="1" spc="-1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Count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the</a:t>
            </a:r>
            <a:r>
              <a:rPr lang="en-US" sz="1800" b="1" spc="-35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number</a:t>
            </a:r>
            <a:r>
              <a:rPr lang="en-US" sz="1800" b="1" spc="-2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of</a:t>
            </a:r>
            <a:r>
              <a:rPr lang="en-US" sz="1800" b="1" spc="-25" dirty="0">
                <a:latin typeface="Calibri"/>
                <a:cs typeface="Calibri"/>
              </a:rPr>
              <a:t> </a:t>
            </a:r>
            <a:r>
              <a:rPr lang="en-US" sz="1800" b="1" spc="-10" dirty="0">
                <a:latin typeface="Calibri"/>
                <a:cs typeface="Calibri"/>
              </a:rPr>
              <a:t>customers</a:t>
            </a:r>
            <a:r>
              <a:rPr lang="en-US" sz="1800" b="1" spc="-2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from</a:t>
            </a:r>
            <a:r>
              <a:rPr lang="en-US" sz="1800" b="1" spc="-20" dirty="0">
                <a:latin typeface="Calibri"/>
                <a:cs typeface="Calibri"/>
              </a:rPr>
              <a:t> </a:t>
            </a:r>
            <a:r>
              <a:rPr lang="en-US" sz="1800" b="1" dirty="0">
                <a:latin typeface="Calibri"/>
                <a:cs typeface="Calibri"/>
              </a:rPr>
              <a:t>each</a:t>
            </a:r>
            <a:r>
              <a:rPr lang="en-US" sz="1800" b="1" spc="-15" dirty="0">
                <a:latin typeface="Calibri"/>
                <a:cs typeface="Calibri"/>
              </a:rPr>
              <a:t> </a:t>
            </a:r>
            <a:r>
              <a:rPr lang="en-US" sz="1800" b="1" spc="-10" dirty="0">
                <a:latin typeface="Calibri"/>
                <a:cs typeface="Calibri"/>
              </a:rPr>
              <a:t>state.</a:t>
            </a:r>
            <a:endParaRPr lang="en-US" sz="1800" dirty="0">
              <a:latin typeface="Calibri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252A4-D6F5-EF3F-0591-6DB9851D8E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648B3-031C-88E8-03C6-6870C7970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71578" y="1026140"/>
            <a:ext cx="3814642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CDF5EDDA-3149-6086-3936-A6A6C3AD506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1" y="1525425"/>
            <a:ext cx="4895322" cy="4403196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74C5D93-B1A0-F333-6B70-32124AFBF81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411" y="1525425"/>
            <a:ext cx="4571726" cy="452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871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643A7-17B5-B84E-A821-4BBEE0349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C2AF3-968A-B686-CAAF-646CD1C05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05206"/>
            <a:ext cx="10515600" cy="382127"/>
          </a:xfrm>
        </p:spPr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+mn-lt"/>
                <a:cs typeface="Calibri"/>
              </a:rPr>
              <a:t>Q</a:t>
            </a:r>
            <a:r>
              <a:rPr lang="en-NG" sz="1800" b="1" dirty="0">
                <a:latin typeface="+mn-lt"/>
              </a:rPr>
              <a:t>1. Calculate the number of orders per month in 2018. </a:t>
            </a:r>
            <a:endParaRPr lang="en-US" sz="18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0E255-0677-ECC7-938A-24FAB9F28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2645" y="1053663"/>
            <a:ext cx="4395789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AA0A40-19D9-0244-16EC-027BE48DE7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8294" y="1053663"/>
            <a:ext cx="3838574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0A2E17B-8D73-6FAE-57B0-8F765B4E140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1471612"/>
            <a:ext cx="4936066" cy="502126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B44BB30-29C8-0BC2-36A6-E36A3622A6D3}"/>
              </a:ext>
            </a:extLst>
          </p:cNvPr>
          <p:cNvSpPr txBox="1">
            <a:spLocks/>
          </p:cNvSpPr>
          <p:nvPr/>
        </p:nvSpPr>
        <p:spPr>
          <a:xfrm>
            <a:off x="2104103" y="156749"/>
            <a:ext cx="8042787" cy="3821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latin typeface="+mn-lt"/>
                <a:cs typeface="Calibri"/>
              </a:rPr>
              <a:t>Immediate Level Question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6AB751-4074-FB0A-7A72-6C5FF45BC35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294" y="1471612"/>
            <a:ext cx="4699818" cy="4781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45F47-BB65-3A6B-1DBE-D20984D74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1F4AB-F741-E5B9-2F40-B287FCF58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br>
              <a:rPr lang="en-US" sz="1400" b="1" dirty="0">
                <a:latin typeface="+mn-lt"/>
                <a:cs typeface="Calibri"/>
              </a:rPr>
            </a:br>
            <a:r>
              <a:rPr lang="en-US" sz="1800" b="1" dirty="0">
                <a:latin typeface="+mn-lt"/>
                <a:cs typeface="Calibri"/>
              </a:rPr>
              <a:t>Q</a:t>
            </a:r>
            <a:r>
              <a:rPr lang="en-NG" sz="1800" b="1" dirty="0">
                <a:latin typeface="+mn-lt"/>
              </a:rPr>
              <a:t>2. Find the average number of products per order, grouped by customer city. </a:t>
            </a:r>
            <a:br>
              <a:rPr lang="en-NG" sz="1400" b="1" dirty="0">
                <a:latin typeface="+mn-lt"/>
              </a:rPr>
            </a:br>
            <a:endParaRPr lang="en-US" sz="14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2C6DE-5DB1-0137-A84A-AD526A3DE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7478" y="747252"/>
            <a:ext cx="3896256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341741-0876-6D48-AB75-E1D40541A1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55269" y="820686"/>
            <a:ext cx="4419599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8EEA3D8-0AFA-3B5F-C1C2-64BB914FD38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67" y="1248620"/>
            <a:ext cx="4834466" cy="502671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7E8728B-D271-6375-5D03-ECF3443BFD2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269" y="1248620"/>
            <a:ext cx="5113864" cy="4941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770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B4BCA-DE91-8C6C-197E-66AD6DEC1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94802-3250-4F49-2ED4-72FA867FB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+mn-lt"/>
                <a:cs typeface="Calibri"/>
              </a:rPr>
              <a:t>Q3.</a:t>
            </a:r>
            <a:r>
              <a:rPr lang="en-US" sz="1800" b="1" spc="-30" dirty="0">
                <a:latin typeface="+mn-lt"/>
                <a:cs typeface="Calibri"/>
              </a:rPr>
              <a:t> </a:t>
            </a:r>
            <a:r>
              <a:rPr lang="en-NG" sz="1800" b="1" dirty="0">
                <a:latin typeface="+mn-lt"/>
              </a:rPr>
              <a:t>Calculate the percentage of total revenue contributed by each product category. </a:t>
            </a:r>
            <a:endParaRPr lang="en-US" sz="18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D009AB-AC7B-DF39-7534-5CCC740D3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333" y="820686"/>
            <a:ext cx="4429656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C9771C-0BC8-D834-89C5-2E0C3F021A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1469" y="963331"/>
            <a:ext cx="5123919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0168865-CD1B-50E2-AAC6-22904E214C2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333" y="1179410"/>
            <a:ext cx="4639734" cy="5246790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896868B-3FCD-6451-4B4C-C1056342D2B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8287" y="1327356"/>
            <a:ext cx="4639734" cy="50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205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B501B-DB9C-E7EC-CBD4-0BAF75289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00F08-AF4E-F7D3-F933-2DFEB8C03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+mn-lt"/>
                <a:cs typeface="Calibri"/>
              </a:rPr>
              <a:t>Q4.</a:t>
            </a:r>
            <a:r>
              <a:rPr lang="en-NG" sz="1800" b="1" dirty="0">
                <a:latin typeface="+mn-lt"/>
              </a:rPr>
              <a:t> Identify the correlation between product price and the number of times a product has been purchased. </a:t>
            </a:r>
            <a:endParaRPr lang="en-US" sz="18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71E3E-4323-A3C8-A498-C24A53BA2A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2081" y="794617"/>
            <a:ext cx="4438119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1443AC-3917-F8DB-B076-61366A57D0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819394"/>
            <a:ext cx="5123919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F165A43-7A4B-9106-2B29-E846DEA8FE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81" y="1145692"/>
            <a:ext cx="4351864" cy="2835525"/>
          </a:xfrm>
          <a:prstGeom prst="rect">
            <a:avLst/>
          </a:prstGeom>
        </p:spPr>
      </p:pic>
      <p:pic>
        <p:nvPicPr>
          <p:cNvPr id="16" name="Content Placeholder 14">
            <a:extLst>
              <a:ext uri="{FF2B5EF4-FFF2-40B4-BE49-F238E27FC236}">
                <a16:creationId xmlns:a16="http://schemas.microsoft.com/office/drawing/2014/main" id="{A7D5C74F-E538-AE60-D872-C57B2C83C1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2081" y="4112789"/>
            <a:ext cx="4351864" cy="2380086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43AAB4B-9C27-44B4-D94E-2F6BC00D01B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0531" y="1278194"/>
            <a:ext cx="5259388" cy="495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094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F72EB-9AA9-B5CC-A5F8-7EC8C6CDD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9E3FC-269E-307E-4C69-A72B07885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+mn-lt"/>
                <a:cs typeface="Calibri"/>
              </a:rPr>
              <a:t>Q5.</a:t>
            </a:r>
            <a:r>
              <a:rPr lang="en-US" sz="1800" b="1" spc="-40" dirty="0">
                <a:latin typeface="+mn-lt"/>
                <a:cs typeface="Calibri"/>
              </a:rPr>
              <a:t> </a:t>
            </a:r>
            <a:r>
              <a:rPr lang="en-NG" sz="1800" b="1" dirty="0">
                <a:latin typeface="+mn-lt"/>
              </a:rPr>
              <a:t>Calculate the total revenue generated by each seller, and rank them by revenue.</a:t>
            </a:r>
            <a:endParaRPr lang="en-US" sz="18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93587-096B-F3F0-C7B2-3AF713725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1E4109-ED0B-81A1-BFD6-283E6E198D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55268" y="963331"/>
            <a:ext cx="5123919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8E165B9-061C-310B-15F8-09CA81D77F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67" y="1574800"/>
            <a:ext cx="4696541" cy="461486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89EA4A4-2C26-B967-95D9-6045830AA3A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574800"/>
            <a:ext cx="5183188" cy="454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823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DE7F5-9819-1C44-7B30-29E2C183E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CB4E-509E-69CC-CFDD-45C6CF2DD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3562"/>
            <a:ext cx="10515600" cy="382127"/>
          </a:xfrm>
        </p:spPr>
        <p:txBody>
          <a:bodyPr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br>
              <a:rPr lang="en-US" sz="1400" b="1" dirty="0">
                <a:latin typeface="+mn-lt"/>
                <a:cs typeface="Calibri"/>
              </a:rPr>
            </a:br>
            <a:r>
              <a:rPr lang="en-US" sz="1800" b="1" dirty="0">
                <a:latin typeface="+mn-lt"/>
                <a:cs typeface="Calibri"/>
              </a:rPr>
              <a:t>Q</a:t>
            </a:r>
            <a:r>
              <a:rPr lang="en-NG" sz="1800" b="1" dirty="0">
                <a:latin typeface="+mn-lt"/>
              </a:rPr>
              <a:t>1. Calculate the moving average of order values for each customer over their order history. </a:t>
            </a:r>
            <a:br>
              <a:rPr lang="en-NG" sz="1400" b="1" dirty="0">
                <a:latin typeface="+mn-lt"/>
              </a:rPr>
            </a:br>
            <a:endParaRPr lang="en-US" sz="14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3238B-CABD-A6DD-D571-5EF8B1BEA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151910"/>
            <a:ext cx="4710766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72C69C-59C2-8BAA-3FE4-4181A8190F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55268" y="1180639"/>
            <a:ext cx="5123919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A125AED-939D-D65D-A578-9648AA38B1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15" y="1553420"/>
            <a:ext cx="4815839" cy="479286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29F8C384-D2A4-5229-E0E3-4C26D0F54160}"/>
              </a:ext>
            </a:extLst>
          </p:cNvPr>
          <p:cNvSpPr txBox="1">
            <a:spLocks/>
          </p:cNvSpPr>
          <p:nvPr/>
        </p:nvSpPr>
        <p:spPr>
          <a:xfrm>
            <a:off x="2841522" y="256096"/>
            <a:ext cx="5633883" cy="3821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000" b="1" dirty="0">
                <a:latin typeface="+mn-lt"/>
                <a:cs typeface="Calibri"/>
              </a:rPr>
              <a:t>Advanced Level Questions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EEFF1890-EDCA-E89A-FD6D-F0B1C4F4199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811" y="1610878"/>
            <a:ext cx="5183188" cy="459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97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B73C6-1719-5C4D-4057-3421C3717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E74EF-287F-D8B7-516F-03D47986B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8068"/>
            <a:ext cx="10515600" cy="382127"/>
          </a:xfrm>
        </p:spPr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+mn-lt"/>
                <a:cs typeface="Calibri"/>
              </a:rPr>
              <a:t>Q</a:t>
            </a:r>
            <a:r>
              <a:rPr lang="en-NG" sz="1800" b="1" dirty="0">
                <a:latin typeface="+mn-lt"/>
              </a:rPr>
              <a:t>2. Calculate the cumulative sales per month for each year. </a:t>
            </a:r>
            <a:endParaRPr lang="en-US" sz="18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300E2A-591B-6634-54DF-085450CC7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AE953D-F7AB-30F4-3736-5626504244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55268" y="963331"/>
            <a:ext cx="5123919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94904112-2569-CA6D-4DB5-00B3B7DB28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814" y="1248620"/>
            <a:ext cx="4940072" cy="4941043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4948427E-DD09-BB7E-D834-A87572BA757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268" y="1248620"/>
            <a:ext cx="4686300" cy="485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8220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7D373-1A64-E7CE-DBA6-BA0DF854B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8363B-F25D-2F23-1D45-6A8CF64CA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+mn-lt"/>
                <a:cs typeface="Calibri"/>
              </a:rPr>
              <a:t>Q</a:t>
            </a:r>
            <a:r>
              <a:rPr lang="en-NG" sz="1800" b="1" dirty="0">
                <a:latin typeface="+mn-lt"/>
              </a:rPr>
              <a:t>3. Calculate the year-over-year growth rate of total sales. </a:t>
            </a:r>
            <a:endParaRPr lang="en-US" sz="18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B5C52-2936-7DD8-8BE0-8276993B6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535064-FBBA-FCD3-1A46-644D1C02EE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55268" y="963331"/>
            <a:ext cx="5123919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5672877-D68C-9C24-C09E-EF2A61AA732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1" y="1313758"/>
            <a:ext cx="4764089" cy="4614863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66FF81D4-CFF2-CEA4-7320-4B7EEB61280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268" y="1313758"/>
            <a:ext cx="4337472" cy="454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304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B8FC2-5A6A-26ED-3881-8524FFFF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448BA-E48D-6600-3655-55ED655A5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501067"/>
          </a:xfrm>
        </p:spPr>
        <p:txBody>
          <a:bodyPr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800" b="1" dirty="0">
                <a:latin typeface="+mn-lt"/>
                <a:cs typeface="Calibri"/>
              </a:rPr>
              <a:t>Q</a:t>
            </a:r>
            <a:r>
              <a:rPr lang="en-NG" sz="1800" b="1" dirty="0">
                <a:latin typeface="+mn-lt"/>
              </a:rPr>
              <a:t>4. Calculate the retention rate of customers, defined as the percentage of customers who make another purchase within 6 months of their first purchase. </a:t>
            </a:r>
            <a:endParaRPr lang="en-US" sz="18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0AE067-CD12-BCEF-313C-0EE00C3B0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B0349B-ED72-B18C-58F4-2C9C90DE4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75309" y="963331"/>
            <a:ext cx="3209711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4BF056F-1D36-F815-A9EC-0F6406CBE25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813" y="1248620"/>
            <a:ext cx="5084762" cy="485469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00A305E-BE1E-A072-862D-D143D4B68D6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183" y="1345759"/>
            <a:ext cx="4764088" cy="416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134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92361-92B1-C9B0-A738-1C2C98E11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B10F5-2EBE-AA18-0D80-2FC8DE72F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82127"/>
          </a:xfrm>
        </p:spPr>
        <p:txBody>
          <a:bodyPr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br>
              <a:rPr lang="en-US" sz="1400" b="1" dirty="0">
                <a:latin typeface="+mn-lt"/>
                <a:cs typeface="Calibri"/>
              </a:rPr>
            </a:br>
            <a:r>
              <a:rPr lang="en-US" sz="1800" b="1" dirty="0">
                <a:latin typeface="+mn-lt"/>
                <a:cs typeface="Calibri"/>
              </a:rPr>
              <a:t>Q</a:t>
            </a:r>
            <a:r>
              <a:rPr lang="en-NG" sz="1800" b="1" dirty="0">
                <a:latin typeface="+mn-lt"/>
              </a:rPr>
              <a:t>5. Identify the top 3 customers who spent the most money in each year.</a:t>
            </a:r>
            <a:br>
              <a:rPr lang="en-NG" sz="1400" b="1" dirty="0">
                <a:latin typeface="+mn-lt"/>
              </a:rPr>
            </a:br>
            <a:endParaRPr lang="en-US" sz="1400" b="1" dirty="0">
              <a:latin typeface="+mn-lt"/>
              <a:cs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D8F44-794B-65B5-5FC2-50D0A16E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1" y="929379"/>
            <a:ext cx="5157787" cy="285289"/>
          </a:xfrm>
        </p:spPr>
        <p:txBody>
          <a:bodyPr>
            <a:normAutofit/>
          </a:bodyPr>
          <a:lstStyle/>
          <a:p>
            <a:r>
              <a:rPr lang="en-US" sz="1400" dirty="0"/>
              <a:t>Python code </a:t>
            </a:r>
            <a:endParaRPr lang="en-NG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205FD0-9B3C-0101-3E18-A1302D6A72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9589" y="929378"/>
            <a:ext cx="1769532" cy="285289"/>
          </a:xfrm>
        </p:spPr>
        <p:txBody>
          <a:bodyPr>
            <a:normAutofit/>
          </a:bodyPr>
          <a:lstStyle/>
          <a:p>
            <a:r>
              <a:rPr lang="en-US" sz="1400" dirty="0"/>
              <a:t>SQL code</a:t>
            </a:r>
            <a:endParaRPr lang="en-NG" sz="14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126B51A-1AC7-A3F2-46FA-9C8FF0875B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0" y="1396795"/>
            <a:ext cx="4940071" cy="4792868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8758253-9915-7CE6-C14B-28E550AFCA4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818" y="1396793"/>
            <a:ext cx="5043949" cy="4792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767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26F85-B0D0-1D12-C657-6E072B1C3E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C406C7-F2F3-FF9B-FB6E-8B46DF33E4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enwelumchiamaka@gmail.com</a:t>
            </a:r>
            <a:endParaRPr lang="en-NG" dirty="0"/>
          </a:p>
        </p:txBody>
      </p:sp>
    </p:spTree>
    <p:extLst>
      <p:ext uri="{BB962C8B-B14F-4D97-AF65-F5344CB8AC3E}">
        <p14:creationId xmlns:p14="http://schemas.microsoft.com/office/powerpoint/2010/main" val="4017662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422</Words>
  <Application>Microsoft Office PowerPoint</Application>
  <PresentationFormat>Widescreen</PresentationFormat>
  <Paragraphs>58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Symbol</vt:lpstr>
      <vt:lpstr>Office Theme</vt:lpstr>
      <vt:lpstr>Python-SQL-Project</vt:lpstr>
      <vt:lpstr>Q1. List all unique cities where customers are located.</vt:lpstr>
      <vt:lpstr>Q2. Count the number of orders placed in 2017</vt:lpstr>
      <vt:lpstr>Q3. Find the total sales per category</vt:lpstr>
      <vt:lpstr>Q4. Calculate the percentage of orders that were paid in more than one installment.</vt:lpstr>
      <vt:lpstr>Q5. Count the number of customers from each state.</vt:lpstr>
      <vt:lpstr>Q1. Calculate the number of orders per month in 2018. </vt:lpstr>
      <vt:lpstr> Q2. Find the average number of products per order, grouped by customer city.  </vt:lpstr>
      <vt:lpstr>Q3. Calculate the percentage of total revenue contributed by each product category. </vt:lpstr>
      <vt:lpstr>Q4. Identify the correlation between product price and the number of times a product has been purchased. </vt:lpstr>
      <vt:lpstr>Q5. Calculate the total revenue generated by each seller, and rank them by revenue.</vt:lpstr>
      <vt:lpstr> Q1. Calculate the moving average of order values for each customer over their order history.  </vt:lpstr>
      <vt:lpstr>Q2. Calculate the cumulative sales per month for each year. </vt:lpstr>
      <vt:lpstr>Q3. Calculate the year-over-year growth rate of total sales. </vt:lpstr>
      <vt:lpstr>Q4. Calculate the retention rate of customers, defined as the percentage of customers who make another purchase within 6 months of their first purchase. </vt:lpstr>
      <vt:lpstr> Q5. Identify the top 3 customers who spent the most money in each year.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Enwelum Am</dc:creator>
  <cp:lastModifiedBy>Enwelum Am</cp:lastModifiedBy>
  <cp:revision>3</cp:revision>
  <dcterms:created xsi:type="dcterms:W3CDTF">2026-05-04T13:05:26Z</dcterms:created>
  <dcterms:modified xsi:type="dcterms:W3CDTF">2026-05-05T10:43:41Z</dcterms:modified>
</cp:coreProperties>
</file>