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6" r:id="rId12"/>
    <p:sldId id="265" r:id="rId13"/>
    <p:sldId id="264" r:id="rId14"/>
    <p:sldId id="268" r:id="rId15"/>
    <p:sldId id="270" r:id="rId16"/>
    <p:sldId id="274" r:id="rId17"/>
    <p:sldId id="273" r:id="rId18"/>
    <p:sldId id="272" r:id="rId19"/>
    <p:sldId id="271" r:id="rId20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A77F-D94E-C2D5-33AC-62B8DF24A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8ABE4-8B3D-D74B-AC93-F366C745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2DEB7-85F8-AC85-1162-26A23A61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4F61-C802-AAF0-53EB-F782436D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FCC5E-8469-1D3E-5DFE-D8DDA567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3132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79E93-3121-3980-192E-7D33B793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BDAA-E743-D1E0-8C9A-0411D25C6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BB2FC-5FB1-89CB-B3DD-98280D40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37A64-04C7-985E-AB06-D506C488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87ECD-0297-C6B9-F687-BC0C1787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7761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3A58-56CB-2B2D-BEC1-B260CF17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FFDE3-6732-5D03-B737-2668481FB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A1B49-1C97-A906-5995-ECC8969E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65FA-D8F6-79FD-AD60-869AA9134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C57C5-4DFB-5673-591E-9EC55EE2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103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FA9E-0780-2981-B18B-64B90B9B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6E7E3-1C4F-9045-0322-F65B1CF80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CEE5F-4244-0235-7B6E-2801EEA0C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C9BCF-F686-7C02-25A2-7D2258C8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BFF20-B2A5-68AE-D230-8C0BBC3C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75CE3-E2E5-0632-93AC-3D63C975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4170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8495-CC8B-E05C-D896-ADE87DFB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02948-08E1-0671-5834-6ABA7E645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DAA02-90E4-AC7A-9020-518A3A119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109BC7-D9AB-DE5A-2AAC-04E1FBDE3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03929-3D06-90AA-1276-A336A150C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021C7-00DE-76A4-BB3B-AE84180E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FDDDC-43CE-5F75-6FD3-1583B16B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C46A3-C08A-5C58-AEF0-BD4C7C7B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57517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9BE3-5D1A-F43E-1188-8FBC7A89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4D798-DD38-A7F2-F177-3E0AC85B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9C3E6-7853-4C4D-F4B5-90074BE1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F07A9D-D714-E827-597B-C9FD5A81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9476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9E5EA-34B6-B3CC-5A00-129B8764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5FB83A-8D65-8658-8F89-16E06B1D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A51F0-645A-59D3-D126-F479BED7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1969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E6AB-0A3C-B9DC-FB70-45108161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DEC9-19C3-D642-CB88-DE66C12B1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7B64A-0079-EC50-1D3F-2BBB25D11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E1512-64CF-9088-3BA0-BA05BEF9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4CFB8-A0E5-B2F7-B68F-54430C7E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1ACF5-766B-2140-0835-02396851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74576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963E-7C89-575F-E7F0-4D53F63F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CEAAF-3FBA-5640-3EEB-07D84E9CA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E2746-B178-4A50-E656-5CC7880C3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3D9B6-3EC3-4C25-B87D-CF52AD9D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C1C73-560C-CD65-AF61-3A0B64AB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01D29-5272-532D-A512-9A6FB0FC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283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B459-32E6-3EF0-DE80-19B27C7B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53A35-0496-BF9E-D4BB-9B797405A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18670-595C-8F9E-21A2-8B9D4639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AD2D7-5D67-5CD4-D92F-9A22AD5E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CAFB0-B106-8BE3-CA7D-05EA1EB2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2737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69691-A43C-1A16-A5DB-BFF4FF13C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D88AB-6A1E-002B-7CE6-A63E8FCA1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A3BC6-12ED-A262-63C1-006662745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EB738-76E5-0E37-7EDD-4773F4E0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A1EE0-19CA-DA10-EC2D-5DF85AA1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7384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C4EE8-DD45-636D-6D21-D33DB3CE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0A03D-79FC-C04E-C338-FCC3236E1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805F-CE2B-3D1F-6120-C1D211C62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EC8B0-ADB2-4142-B90B-D8076566A301}" type="datetimeFigureOut">
              <a:rPr lang="en-NG" smtClean="0"/>
              <a:t>04/05/2026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18891-B97E-C9AC-1F17-C349052DF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15BE8-087A-3E16-8E45-55528CA7F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CDE9E-E409-42D8-9A82-E065822156A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8661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C6B1-D6BC-B0FC-9BC7-6A2568C2B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0582"/>
            <a:ext cx="9144000" cy="1502850"/>
          </a:xfrm>
        </p:spPr>
        <p:txBody>
          <a:bodyPr/>
          <a:lstStyle/>
          <a:p>
            <a:r>
              <a:rPr lang="fr-FR" b="1" spc="-10" dirty="0">
                <a:latin typeface="Calibri"/>
                <a:cs typeface="Calibri"/>
              </a:rPr>
              <a:t>Python-SQL-Project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190E8-863D-AC0C-8683-96BD9D5FF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0245"/>
            <a:ext cx="9144000" cy="3618271"/>
          </a:xfrm>
        </p:spPr>
        <p:txBody>
          <a:bodyPr>
            <a:normAutofit fontScale="70000" lnSpcReduction="20000"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cs typeface="Calibri"/>
              </a:rPr>
              <a:t>Objective</a:t>
            </a:r>
            <a:endParaRPr lang="en-US" dirty="0">
              <a:cs typeface="Calibri"/>
            </a:endParaRPr>
          </a:p>
          <a:p>
            <a:pPr marL="12700" marR="106045" algn="just">
              <a:lnSpc>
                <a:spcPct val="117900"/>
              </a:lnSpc>
              <a:spcBef>
                <a:spcPts val="795"/>
              </a:spcBef>
            </a:pPr>
            <a:r>
              <a:rPr lang="en-US" dirty="0">
                <a:cs typeface="Calibri"/>
              </a:rPr>
              <a:t>The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primary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goal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of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this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project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was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bridge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the</a:t>
            </a:r>
            <a:r>
              <a:rPr lang="en-US" spc="-40" dirty="0">
                <a:cs typeface="Calibri"/>
              </a:rPr>
              <a:t> </a:t>
            </a:r>
            <a:r>
              <a:rPr lang="en-US" dirty="0">
                <a:cs typeface="Calibri"/>
              </a:rPr>
              <a:t>gap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between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raw</a:t>
            </a:r>
            <a:r>
              <a:rPr lang="en-US" spc="-35" dirty="0">
                <a:cs typeface="Calibri"/>
              </a:rPr>
              <a:t> </a:t>
            </a:r>
            <a:r>
              <a:rPr lang="en-US" dirty="0">
                <a:cs typeface="Calibri"/>
              </a:rPr>
              <a:t>data</a:t>
            </a:r>
            <a:r>
              <a:rPr lang="en-US" spc="-3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storage</a:t>
            </a:r>
            <a:r>
              <a:rPr lang="en-US" spc="-25" dirty="0">
                <a:cs typeface="Calibri"/>
              </a:rPr>
              <a:t> and </a:t>
            </a:r>
            <a:r>
              <a:rPr lang="en-US" spc="-10" dirty="0">
                <a:cs typeface="Calibri"/>
              </a:rPr>
              <a:t>strategic</a:t>
            </a:r>
            <a:r>
              <a:rPr lang="en-US" spc="-2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decision-</a:t>
            </a:r>
            <a:r>
              <a:rPr lang="en-US" dirty="0">
                <a:cs typeface="Calibri"/>
              </a:rPr>
              <a:t>making.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By</a:t>
            </a:r>
            <a:r>
              <a:rPr lang="en-US" spc="-1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integrating</a:t>
            </a:r>
            <a:r>
              <a:rPr lang="en-US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SQL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for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data</a:t>
            </a:r>
            <a:r>
              <a:rPr lang="en-US" spc="-2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extraction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and</a:t>
            </a:r>
            <a:r>
              <a:rPr lang="en-US" spc="-10" dirty="0">
                <a:cs typeface="Calibri"/>
              </a:rPr>
              <a:t> </a:t>
            </a:r>
            <a:r>
              <a:rPr lang="en-US" dirty="0">
                <a:cs typeface="Calibri"/>
              </a:rPr>
              <a:t>Python</a:t>
            </a:r>
            <a:r>
              <a:rPr lang="en-US" spc="-5" dirty="0">
                <a:cs typeface="Calibri"/>
              </a:rPr>
              <a:t> </a:t>
            </a:r>
            <a:r>
              <a:rPr lang="en-US" dirty="0">
                <a:cs typeface="Calibri"/>
              </a:rPr>
              <a:t>for</a:t>
            </a:r>
            <a:r>
              <a:rPr lang="en-US" spc="-2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advanced </a:t>
            </a:r>
            <a:r>
              <a:rPr lang="en-US" dirty="0">
                <a:cs typeface="Calibri"/>
              </a:rPr>
              <a:t>analytics,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I</a:t>
            </a:r>
            <a:r>
              <a:rPr lang="en-US" spc="-2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developed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a</a:t>
            </a:r>
            <a:r>
              <a:rPr lang="en-US" spc="-2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comprehensive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pipeline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10" dirty="0">
                <a:cs typeface="Calibri"/>
              </a:rPr>
              <a:t> </a:t>
            </a:r>
            <a:r>
              <a:rPr lang="en-US" dirty="0">
                <a:cs typeface="Calibri"/>
              </a:rPr>
              <a:t>uncover</a:t>
            </a:r>
            <a:r>
              <a:rPr lang="en-US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trends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and</a:t>
            </a:r>
            <a:r>
              <a:rPr lang="en-US" spc="-2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patterns</a:t>
            </a:r>
            <a:r>
              <a:rPr lang="en-US" spc="-1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within</a:t>
            </a:r>
            <a:endParaRPr lang="en-US" dirty="0"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254"/>
              </a:spcBef>
            </a:pPr>
            <a:r>
              <a:rPr lang="en-US" spc="-10" dirty="0">
                <a:cs typeface="Calibri"/>
              </a:rPr>
              <a:t>complex</a:t>
            </a:r>
            <a:r>
              <a:rPr lang="en-US" spc="-2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datasets.</a:t>
            </a:r>
            <a:endParaRPr lang="en-US" dirty="0"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b="1" dirty="0">
                <a:cs typeface="Calibri"/>
              </a:rPr>
              <a:t>Key</a:t>
            </a:r>
            <a:r>
              <a:rPr lang="en-US" b="1" spc="-40" dirty="0">
                <a:cs typeface="Calibri"/>
              </a:rPr>
              <a:t> </a:t>
            </a:r>
            <a:r>
              <a:rPr lang="en-US" b="1" dirty="0">
                <a:cs typeface="Calibri"/>
              </a:rPr>
              <a:t>Components</a:t>
            </a:r>
            <a:r>
              <a:rPr lang="en-US" b="1" spc="-35" dirty="0">
                <a:cs typeface="Calibri"/>
              </a:rPr>
              <a:t> </a:t>
            </a:r>
            <a:r>
              <a:rPr lang="en-US" b="1" dirty="0">
                <a:cs typeface="Calibri"/>
              </a:rPr>
              <a:t>of</a:t>
            </a:r>
            <a:r>
              <a:rPr lang="en-US" b="1" spc="-25" dirty="0">
                <a:cs typeface="Calibri"/>
              </a:rPr>
              <a:t> </a:t>
            </a:r>
            <a:r>
              <a:rPr lang="en-US" b="1" dirty="0">
                <a:cs typeface="Calibri"/>
              </a:rPr>
              <a:t>My</a:t>
            </a:r>
            <a:r>
              <a:rPr lang="en-US" b="1" spc="-45" dirty="0">
                <a:cs typeface="Calibri"/>
              </a:rPr>
              <a:t> </a:t>
            </a:r>
            <a:r>
              <a:rPr lang="en-US" b="1" spc="-20" dirty="0">
                <a:cs typeface="Calibri"/>
              </a:rPr>
              <a:t>Work</a:t>
            </a:r>
            <a:endParaRPr lang="en-US" dirty="0">
              <a:cs typeface="Calibri"/>
            </a:endParaRPr>
          </a:p>
          <a:p>
            <a:pPr marL="469265" marR="179070" indent="-228600" algn="just">
              <a:lnSpc>
                <a:spcPct val="116700"/>
              </a:lnSpc>
              <a:spcBef>
                <a:spcPts val="890"/>
              </a:spcBef>
              <a:buFont typeface="Symbol"/>
              <a:buChar char=""/>
              <a:tabLst>
                <a:tab pos="469265" algn="l"/>
              </a:tabLst>
            </a:pPr>
            <a:r>
              <a:rPr lang="en-US" b="1" dirty="0">
                <a:cs typeface="Calibri"/>
              </a:rPr>
              <a:t>Data</a:t>
            </a:r>
            <a:r>
              <a:rPr lang="en-US" b="1" spc="-30" dirty="0">
                <a:cs typeface="Calibri"/>
              </a:rPr>
              <a:t> </a:t>
            </a:r>
            <a:r>
              <a:rPr lang="en-US" b="1" spc="-10" dirty="0">
                <a:cs typeface="Calibri"/>
              </a:rPr>
              <a:t>Orchestration:</a:t>
            </a:r>
            <a:r>
              <a:rPr lang="en-US" b="1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Managed</a:t>
            </a:r>
            <a:r>
              <a:rPr lang="en-US" spc="-1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large-</a:t>
            </a:r>
            <a:r>
              <a:rPr lang="en-US" dirty="0">
                <a:cs typeface="Calibri"/>
              </a:rPr>
              <a:t>scale</a:t>
            </a:r>
            <a:r>
              <a:rPr lang="en-US" spc="-2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datasets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using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SQL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perform</a:t>
            </a:r>
            <a:r>
              <a:rPr lang="en-US" spc="-2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complex </a:t>
            </a:r>
            <a:r>
              <a:rPr lang="en-US" dirty="0">
                <a:cs typeface="Calibri"/>
              </a:rPr>
              <a:t>joins,</a:t>
            </a:r>
            <a:r>
              <a:rPr lang="en-US" spc="-10" dirty="0">
                <a:cs typeface="Calibri"/>
              </a:rPr>
              <a:t> aggregations,</a:t>
            </a:r>
            <a:r>
              <a:rPr lang="en-US" spc="-5" dirty="0">
                <a:cs typeface="Calibri"/>
              </a:rPr>
              <a:t> </a:t>
            </a:r>
            <a:r>
              <a:rPr lang="en-US" dirty="0">
                <a:cs typeface="Calibri"/>
              </a:rPr>
              <a:t>and</a:t>
            </a:r>
            <a:r>
              <a:rPr lang="en-US" spc="-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subqueries.</a:t>
            </a:r>
            <a:endParaRPr lang="en-US" dirty="0">
              <a:cs typeface="Calibri"/>
            </a:endParaRPr>
          </a:p>
          <a:p>
            <a:pPr marL="469265" marR="78105" indent="-228600" algn="just">
              <a:lnSpc>
                <a:spcPct val="1167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</a:tabLst>
            </a:pPr>
            <a:r>
              <a:rPr lang="en-US" b="1" dirty="0">
                <a:cs typeface="Calibri"/>
              </a:rPr>
              <a:t>Advanced</a:t>
            </a:r>
            <a:r>
              <a:rPr lang="en-US" b="1" spc="-25" dirty="0">
                <a:cs typeface="Calibri"/>
              </a:rPr>
              <a:t> </a:t>
            </a:r>
            <a:r>
              <a:rPr lang="en-US" b="1" dirty="0">
                <a:cs typeface="Calibri"/>
              </a:rPr>
              <a:t>Analytics:</a:t>
            </a:r>
            <a:r>
              <a:rPr lang="en-US" b="1" spc="-15" dirty="0">
                <a:cs typeface="Calibri"/>
              </a:rPr>
              <a:t> </a:t>
            </a:r>
            <a:r>
              <a:rPr lang="en-US" dirty="0">
                <a:cs typeface="Calibri"/>
              </a:rPr>
              <a:t>Leveraged</a:t>
            </a:r>
            <a:r>
              <a:rPr lang="en-US" spc="-5" dirty="0">
                <a:cs typeface="Calibri"/>
              </a:rPr>
              <a:t> </a:t>
            </a:r>
            <a:r>
              <a:rPr lang="en-US" dirty="0">
                <a:cs typeface="Calibri"/>
              </a:rPr>
              <a:t>Python</a:t>
            </a:r>
            <a:r>
              <a:rPr lang="en-US" spc="-10" dirty="0">
                <a:cs typeface="Calibri"/>
              </a:rPr>
              <a:t> (Pandas/NumPy)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to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clean,</a:t>
            </a:r>
            <a:r>
              <a:rPr lang="en-US" spc="-2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manipulate,</a:t>
            </a:r>
            <a:r>
              <a:rPr lang="en-US" spc="-15" dirty="0">
                <a:cs typeface="Calibri"/>
              </a:rPr>
              <a:t> </a:t>
            </a:r>
            <a:r>
              <a:rPr lang="en-US" spc="-25" dirty="0">
                <a:cs typeface="Calibri"/>
              </a:rPr>
              <a:t>and </a:t>
            </a:r>
            <a:r>
              <a:rPr lang="en-US" dirty="0">
                <a:cs typeface="Calibri"/>
              </a:rPr>
              <a:t>perform</a:t>
            </a:r>
            <a:r>
              <a:rPr lang="en-US" spc="-30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statistical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analysis</a:t>
            </a:r>
            <a:r>
              <a:rPr lang="en-US" spc="-30" dirty="0">
                <a:cs typeface="Calibri"/>
              </a:rPr>
              <a:t> </a:t>
            </a:r>
            <a:r>
              <a:rPr lang="en-US" dirty="0">
                <a:cs typeface="Calibri"/>
              </a:rPr>
              <a:t>on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the</a:t>
            </a:r>
            <a:r>
              <a:rPr lang="en-US" spc="-2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extracted</a:t>
            </a:r>
            <a:r>
              <a:rPr lang="en-US" spc="-30" dirty="0">
                <a:cs typeface="Calibri"/>
              </a:rPr>
              <a:t> </a:t>
            </a:r>
            <a:r>
              <a:rPr lang="en-US" spc="-20" dirty="0">
                <a:cs typeface="Calibri"/>
              </a:rPr>
              <a:t>data.</a:t>
            </a:r>
            <a:endParaRPr lang="en-US" dirty="0">
              <a:cs typeface="Calibri"/>
            </a:endParaRPr>
          </a:p>
          <a:p>
            <a:pPr marL="469265" marR="5080" indent="-228600" algn="just">
              <a:lnSpc>
                <a:spcPct val="1175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lang="en-US" b="1" dirty="0">
                <a:cs typeface="Calibri"/>
              </a:rPr>
              <a:t>Visual</a:t>
            </a:r>
            <a:r>
              <a:rPr lang="en-US" b="1" spc="-15" dirty="0">
                <a:cs typeface="Calibri"/>
              </a:rPr>
              <a:t> </a:t>
            </a:r>
            <a:r>
              <a:rPr lang="en-US" b="1" spc="-10" dirty="0">
                <a:cs typeface="Calibri"/>
              </a:rPr>
              <a:t>Intelligence:</a:t>
            </a:r>
            <a:r>
              <a:rPr lang="en-US" b="1" spc="-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Created </a:t>
            </a:r>
            <a:r>
              <a:rPr lang="en-US" dirty="0">
                <a:cs typeface="Calibri"/>
              </a:rPr>
              <a:t>dynamic</a:t>
            </a:r>
            <a:r>
              <a:rPr lang="en-US" spc="-20" dirty="0">
                <a:cs typeface="Calibri"/>
              </a:rPr>
              <a:t> </a:t>
            </a:r>
            <a:r>
              <a:rPr lang="en-US" dirty="0">
                <a:cs typeface="Calibri"/>
              </a:rPr>
              <a:t>Data</a:t>
            </a:r>
            <a:r>
              <a:rPr lang="en-US" spc="-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Visualizations </a:t>
            </a:r>
            <a:r>
              <a:rPr lang="en-US" dirty="0">
                <a:cs typeface="Calibri"/>
              </a:rPr>
              <a:t>(using</a:t>
            </a:r>
            <a:r>
              <a:rPr lang="en-US" spc="-10" dirty="0">
                <a:cs typeface="Calibri"/>
              </a:rPr>
              <a:t> Matplotlib/Seaborn) </a:t>
            </a:r>
            <a:r>
              <a:rPr lang="en-US" dirty="0">
                <a:cs typeface="Calibri"/>
              </a:rPr>
              <a:t>to</a:t>
            </a:r>
            <a:r>
              <a:rPr lang="en-US" spc="-10" dirty="0">
                <a:cs typeface="Calibri"/>
              </a:rPr>
              <a:t> translate</a:t>
            </a:r>
            <a:r>
              <a:rPr lang="en-US" spc="-25" dirty="0">
                <a:cs typeface="Calibri"/>
              </a:rPr>
              <a:t> </a:t>
            </a:r>
            <a:r>
              <a:rPr lang="en-US" dirty="0">
                <a:cs typeface="Calibri"/>
              </a:rPr>
              <a:t>technical findings</a:t>
            </a:r>
            <a:r>
              <a:rPr lang="en-US" spc="-10" dirty="0">
                <a:cs typeface="Calibri"/>
              </a:rPr>
              <a:t> </a:t>
            </a:r>
            <a:r>
              <a:rPr lang="en-US" dirty="0">
                <a:cs typeface="Calibri"/>
              </a:rPr>
              <a:t>into</a:t>
            </a:r>
            <a:r>
              <a:rPr lang="en-US" spc="-2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intuitive,</a:t>
            </a:r>
            <a:r>
              <a:rPr lang="en-US" spc="-15" dirty="0">
                <a:cs typeface="Calibri"/>
              </a:rPr>
              <a:t> </a:t>
            </a:r>
            <a:r>
              <a:rPr lang="en-US" spc="-20" dirty="0">
                <a:cs typeface="Calibri"/>
              </a:rPr>
              <a:t>easy-</a:t>
            </a:r>
            <a:r>
              <a:rPr lang="en-US" spc="-10" dirty="0">
                <a:cs typeface="Calibri"/>
              </a:rPr>
              <a:t>to-understand</a:t>
            </a:r>
            <a:r>
              <a:rPr lang="en-US" spc="-1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charts</a:t>
            </a:r>
            <a:endParaRPr lang="en-US" dirty="0">
              <a:cs typeface="Calibri"/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00859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9B9B-1067-B80E-B428-9E2CDF98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BDBC-CCE2-C44C-2385-E955A0A43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9763"/>
            <a:ext cx="9144000" cy="2387600"/>
          </a:xfrm>
        </p:spPr>
        <p:txBody>
          <a:bodyPr>
            <a:normAutofit/>
          </a:bodyPr>
          <a:lstStyle/>
          <a:p>
            <a:r>
              <a:rPr lang="fr-FR" b="1" spc="-10" dirty="0">
                <a:latin typeface="Calibri"/>
                <a:cs typeface="Calibri"/>
              </a:rPr>
              <a:t>Basic</a:t>
            </a:r>
            <a:r>
              <a:rPr lang="fr-FR" b="1" spc="-25" dirty="0">
                <a:latin typeface="Calibri"/>
                <a:cs typeface="Calibri"/>
              </a:rPr>
              <a:t> </a:t>
            </a:r>
            <a:r>
              <a:rPr lang="fr-FR" b="1" dirty="0">
                <a:latin typeface="Calibri"/>
                <a:cs typeface="Calibri"/>
              </a:rPr>
              <a:t>Level</a:t>
            </a:r>
            <a:r>
              <a:rPr lang="fr-FR" b="1" spc="-15" dirty="0">
                <a:latin typeface="Calibri"/>
                <a:cs typeface="Calibri"/>
              </a:rPr>
              <a:t> </a:t>
            </a:r>
            <a:r>
              <a:rPr lang="fr-FR" b="1" spc="-10" dirty="0">
                <a:latin typeface="Calibri"/>
                <a:cs typeface="Calibri"/>
              </a:rPr>
              <a:t>Questions</a:t>
            </a:r>
            <a:br>
              <a:rPr lang="fr-FR" dirty="0">
                <a:latin typeface="Calibri"/>
                <a:cs typeface="Calibri"/>
              </a:rPr>
            </a:b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781675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04E7-D76E-C607-2F54-B8234451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Calibri"/>
                <a:cs typeface="Calibri"/>
              </a:rPr>
              <a:t>Q1.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List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all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unique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cities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where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customers</a:t>
            </a:r>
            <a:r>
              <a:rPr lang="en-US" sz="1400" b="1" spc="-3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are</a:t>
            </a:r>
            <a:r>
              <a:rPr lang="en-US" sz="1400" b="1" spc="-30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located.</a:t>
            </a:r>
            <a:endParaRPr lang="en-NG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CC65E-1E7F-54A8-1F3D-B4A3ADBE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CB9D615-3727-2F72-1761-553A8C4245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2035278"/>
            <a:ext cx="5157787" cy="304905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7FDD9-EE64-70BB-5F17-07F511F76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963331"/>
            <a:ext cx="5183188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CAC5BEC-79F2-33C2-EB31-427AB0CD540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35279"/>
            <a:ext cx="5183188" cy="304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4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8739-86E6-78C5-E412-C89EF2EC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0653-6965-9FDB-77A9-C45C8899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Calibri"/>
                <a:cs typeface="Calibri"/>
              </a:rPr>
              <a:t>Q2.</a:t>
            </a:r>
            <a:r>
              <a:rPr lang="en-US" sz="1400" b="1" spc="-3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Count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the</a:t>
            </a:r>
            <a:r>
              <a:rPr lang="en-US" sz="1400" b="1" spc="-4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number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of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orders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placed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in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spc="-20" dirty="0">
                <a:latin typeface="Calibri"/>
                <a:cs typeface="Calibri"/>
              </a:rPr>
              <a:t>2017</a:t>
            </a:r>
            <a:endParaRPr lang="en-NG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E19C4-35F2-A6F1-E447-56EC3E1A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9D683-0FD9-FE4E-6914-D8D2298D8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963331"/>
            <a:ext cx="5183188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C2CA917-361C-1A38-BD03-00534DAB42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1759974"/>
            <a:ext cx="5157787" cy="3687097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C484F2E-C6C2-47E1-5ECD-F4CDABE2F7C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659" y="1759974"/>
            <a:ext cx="4620270" cy="375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7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90EE-31C4-EEFC-875B-77846E971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8D0C-86D2-3157-6FBF-0AAA99D9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Calibri"/>
                <a:cs typeface="Calibri"/>
              </a:rPr>
              <a:t>Q3.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Find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the</a:t>
            </a:r>
            <a:r>
              <a:rPr lang="en-US" sz="1400" b="1" spc="-3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total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sales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per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category</a:t>
            </a:r>
            <a:endParaRPr lang="en-NG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EEC2C-AF98-DB0D-D6E7-FEE8CA983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0D452-2D5C-F1EE-1BC6-D36ACD955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963331"/>
            <a:ext cx="5183188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C676476-E65D-FF3B-0586-7DC1094861F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1" y="1396795"/>
            <a:ext cx="4960998" cy="4792868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32642A2-EEF4-5B1E-FFBF-676148F6F0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1396795"/>
            <a:ext cx="5157786" cy="479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6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41DE-39A2-7FD3-9C24-A982C3F9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9E3B-67D0-7A9B-F2B4-2254A55D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Calibri"/>
                <a:cs typeface="Calibri"/>
              </a:rPr>
              <a:t>Q4.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Calculate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the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percentage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of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orders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that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were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paid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in</a:t>
            </a:r>
            <a:r>
              <a:rPr lang="en-US" sz="1400" b="1" spc="-3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more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than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one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installment.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E8951-FB19-69BD-9770-28A4E37EA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BE0A6-22E7-0629-9892-99A734305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963331"/>
            <a:ext cx="5183188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D2074E-3B7B-B2EB-30A7-F9AF8D6E878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45925"/>
            <a:ext cx="5291667" cy="4089675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2F88CA6-57B4-0215-F8DF-8DD30841CF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1" y="1311973"/>
            <a:ext cx="5183188" cy="394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6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084DC-1F60-8A61-44FC-6DE453B7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CB779-5042-AAB2-B2BF-7C92D9C9B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Calibri"/>
                <a:cs typeface="Calibri"/>
              </a:rPr>
              <a:t>Q5.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Count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the</a:t>
            </a:r>
            <a:r>
              <a:rPr lang="en-US" sz="1400" b="1" spc="-35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number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of</a:t>
            </a:r>
            <a:r>
              <a:rPr lang="en-US" sz="1400" b="1" spc="-25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customers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from</a:t>
            </a:r>
            <a:r>
              <a:rPr lang="en-US" sz="1400" b="1" spc="-20" dirty="0">
                <a:latin typeface="Calibri"/>
                <a:cs typeface="Calibri"/>
              </a:rPr>
              <a:t> </a:t>
            </a:r>
            <a:r>
              <a:rPr lang="en-US" sz="1400" b="1" dirty="0">
                <a:latin typeface="Calibri"/>
                <a:cs typeface="Calibri"/>
              </a:rPr>
              <a:t>each</a:t>
            </a:r>
            <a:r>
              <a:rPr lang="en-US" sz="1400" b="1" spc="-15" dirty="0">
                <a:latin typeface="Calibri"/>
                <a:cs typeface="Calibri"/>
              </a:rPr>
              <a:t> </a:t>
            </a:r>
            <a:r>
              <a:rPr lang="en-US" sz="1400" b="1" spc="-10" dirty="0">
                <a:latin typeface="Calibri"/>
                <a:cs typeface="Calibri"/>
              </a:rPr>
              <a:t>state.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252A4-D6F5-EF3F-0591-6DB9851D8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648B3-031C-88E8-03C6-6870C7970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5268" y="963331"/>
            <a:ext cx="51239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DF5EDDA-3149-6086-3936-A6A6C3AD50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1" y="1525425"/>
            <a:ext cx="4895322" cy="4403196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CEECFFB-DBD5-C063-A414-84BF20DE86C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269" y="1464699"/>
            <a:ext cx="4351864" cy="481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7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58CA-B757-B8E5-358C-2E4A757F2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97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b="1" spc="-10" dirty="0" err="1">
                <a:latin typeface="Calibri"/>
                <a:cs typeface="Calibri"/>
              </a:rPr>
              <a:t>Intermediate</a:t>
            </a:r>
            <a:r>
              <a:rPr lang="fr-FR" b="1" spc="-25" dirty="0">
                <a:latin typeface="Calibri"/>
                <a:cs typeface="Calibri"/>
              </a:rPr>
              <a:t> </a:t>
            </a:r>
            <a:r>
              <a:rPr lang="fr-FR" b="1" dirty="0">
                <a:latin typeface="Calibri"/>
                <a:cs typeface="Calibri"/>
              </a:rPr>
              <a:t>Level</a:t>
            </a:r>
            <a:r>
              <a:rPr lang="fr-FR" b="1" spc="-15" dirty="0">
                <a:latin typeface="Calibri"/>
                <a:cs typeface="Calibri"/>
              </a:rPr>
              <a:t> </a:t>
            </a:r>
            <a:r>
              <a:rPr lang="fr-FR" b="1" spc="-10" dirty="0">
                <a:latin typeface="Calibri"/>
                <a:cs typeface="Calibri"/>
              </a:rPr>
              <a:t>Questions</a:t>
            </a:r>
            <a:br>
              <a:rPr lang="fr-FR" dirty="0">
                <a:latin typeface="Calibri"/>
                <a:cs typeface="Calibri"/>
              </a:rPr>
            </a:b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6094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43A7-17B5-B84E-A821-4BBEE034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2AF3-968A-B686-CAAF-646CD1C0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+mn-lt"/>
                <a:cs typeface="Calibri"/>
              </a:rPr>
              <a:t>Q</a:t>
            </a:r>
            <a:r>
              <a:rPr lang="en-NG" sz="1400" b="1" dirty="0">
                <a:latin typeface="+mn-lt"/>
              </a:rPr>
              <a:t>1. Calculate the number of orders per month in 2018. </a:t>
            </a: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0E255-0677-ECC7-938A-24FAB9F28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813" y="770783"/>
            <a:ext cx="4395789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A0A40-19D9-0244-16EC-027BE48DE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294" y="747252"/>
            <a:ext cx="3838574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A2E17B-8D73-6FAE-57B0-8F765B4E14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4" y="1168400"/>
            <a:ext cx="4936066" cy="5021263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F4D3AE3-F74F-7429-70F9-604407340C4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94" y="1291533"/>
            <a:ext cx="4859867" cy="47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1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5F47-BB65-3A6B-1DBE-D20984D74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F4AB-F741-E5B9-2F40-B287FCF5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n-US" sz="1400" b="1" dirty="0">
                <a:latin typeface="+mn-lt"/>
                <a:cs typeface="Calibri"/>
              </a:rPr>
            </a:br>
            <a:r>
              <a:rPr lang="en-US" sz="1400" b="1" dirty="0">
                <a:latin typeface="+mn-lt"/>
                <a:cs typeface="Calibri"/>
              </a:rPr>
              <a:t>Q</a:t>
            </a:r>
            <a:r>
              <a:rPr lang="en-NG" sz="1400" b="1" dirty="0">
                <a:latin typeface="+mn-lt"/>
              </a:rPr>
              <a:t>2. Find the average number of products per order, grouped by customer city. </a:t>
            </a:r>
            <a:br>
              <a:rPr lang="en-NG" sz="1400" b="1" dirty="0">
                <a:latin typeface="+mn-lt"/>
              </a:rPr>
            </a:b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2C6DE-5DB1-0137-A84A-AD526A3D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7478" y="747252"/>
            <a:ext cx="3896256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41741-0876-6D48-AB75-E1D40541A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5269" y="820686"/>
            <a:ext cx="441959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EEA3D8-0AFA-3B5F-C1C2-64BB914FD3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1248620"/>
            <a:ext cx="4834466" cy="5026713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484C452-57BE-FD9E-32C8-9D9760CAB9D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772" y="1248620"/>
            <a:ext cx="5010361" cy="494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7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4BCA-DE91-8C6C-197E-66AD6DEC1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4802-3250-4F49-2ED4-72FA867F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+mn-lt"/>
                <a:cs typeface="Calibri"/>
              </a:rPr>
              <a:t>Q3.</a:t>
            </a:r>
            <a:r>
              <a:rPr lang="en-US" sz="1400" b="1" spc="-30" dirty="0">
                <a:latin typeface="+mn-lt"/>
                <a:cs typeface="Calibri"/>
              </a:rPr>
              <a:t> </a:t>
            </a:r>
            <a:r>
              <a:rPr lang="en-NG" sz="1400" b="1" dirty="0">
                <a:latin typeface="+mn-lt"/>
              </a:rPr>
              <a:t>Calculate the percentage of total revenue contributed by each product category. </a:t>
            </a: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009AB-AC7B-DF39-7534-5CCC740D3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333" y="820686"/>
            <a:ext cx="4429656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9771C-0BC8-D834-89C5-2E0C3F021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5268" y="963331"/>
            <a:ext cx="51239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168865-CD1B-50E2-AAC6-22904E214C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33" y="1179410"/>
            <a:ext cx="4639734" cy="524679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5575387-3F23-8E8A-2219-9C229F3B629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267" y="1255610"/>
            <a:ext cx="5123918" cy="509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05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501B-DB9C-E7EC-CBD4-0BAF7528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0F08-AF4E-F7D3-F933-2DFEB8C0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+mn-lt"/>
                <a:cs typeface="Calibri"/>
              </a:rPr>
              <a:t>Q4.</a:t>
            </a:r>
            <a:r>
              <a:rPr lang="en-NG" sz="1400" b="1" dirty="0">
                <a:latin typeface="+mn-lt"/>
              </a:rPr>
              <a:t> Identify the correlation between product price and the number of times a product has been purchased. </a:t>
            </a: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71E3E-4323-A3C8-A498-C24A53BA2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081" y="689801"/>
            <a:ext cx="44381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43AC-3917-F8DB-B076-61366A57D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712646"/>
            <a:ext cx="51239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F165A43-7A4B-9106-2B29-E846DEA8FE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81" y="1034491"/>
            <a:ext cx="4351864" cy="2835525"/>
          </a:xfrm>
          <a:prstGeom prst="rect">
            <a:avLst/>
          </a:prstGeom>
        </p:spPr>
      </p:pic>
      <p:pic>
        <p:nvPicPr>
          <p:cNvPr id="16" name="Content Placeholder 14">
            <a:extLst>
              <a:ext uri="{FF2B5EF4-FFF2-40B4-BE49-F238E27FC236}">
                <a16:creationId xmlns:a16="http://schemas.microsoft.com/office/drawing/2014/main" id="{A7D5C74F-E538-AE60-D872-C57B2C83C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2081" y="3895247"/>
            <a:ext cx="4351864" cy="2380086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8B71FCD3-6318-A106-50E3-D58325B9F18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845" y="1094774"/>
            <a:ext cx="5350074" cy="509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9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72EB-9AA9-B5CC-A5F8-7EC8C6CD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E3FC-269E-307E-4C69-A72B0788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+mn-lt"/>
                <a:cs typeface="Calibri"/>
              </a:rPr>
              <a:t>Q5.</a:t>
            </a:r>
            <a:r>
              <a:rPr lang="en-US" sz="1400" b="1" spc="-40" dirty="0">
                <a:latin typeface="+mn-lt"/>
                <a:cs typeface="Calibri"/>
              </a:rPr>
              <a:t> </a:t>
            </a:r>
            <a:r>
              <a:rPr lang="en-NG" sz="1400" b="1" dirty="0">
                <a:latin typeface="+mn-lt"/>
              </a:rPr>
              <a:t>Calculate the total revenue generated by each seller, and rank them by revenue.</a:t>
            </a: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93587-096B-F3F0-C7B2-3AF71372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E4109-ED0B-81A1-BFD6-283E6E198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5268" y="963331"/>
            <a:ext cx="51239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8E165B9-061C-310B-15F8-09CA81D77F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1574800"/>
            <a:ext cx="4696541" cy="4614863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F832EC6-0500-6D2B-709A-39034084DEF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191" y="1574799"/>
            <a:ext cx="4940072" cy="46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2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47B6-96B0-7FE0-FA6D-096218D8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1260-D1F8-B4AD-BE91-57C03C1EE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9763"/>
            <a:ext cx="9144000" cy="2387600"/>
          </a:xfrm>
        </p:spPr>
        <p:txBody>
          <a:bodyPr>
            <a:normAutofit/>
          </a:bodyPr>
          <a:lstStyle/>
          <a:p>
            <a:r>
              <a:rPr lang="fr-FR" b="1" spc="-10" dirty="0">
                <a:latin typeface="Calibri"/>
                <a:cs typeface="Calibri"/>
              </a:rPr>
              <a:t>Advanced</a:t>
            </a:r>
            <a:r>
              <a:rPr lang="fr-FR" b="1" spc="-25" dirty="0">
                <a:latin typeface="Calibri"/>
                <a:cs typeface="Calibri"/>
              </a:rPr>
              <a:t> </a:t>
            </a:r>
            <a:r>
              <a:rPr lang="fr-FR" b="1" dirty="0">
                <a:latin typeface="Calibri"/>
                <a:cs typeface="Calibri"/>
              </a:rPr>
              <a:t>Level</a:t>
            </a:r>
            <a:r>
              <a:rPr lang="fr-FR" b="1" spc="-15" dirty="0">
                <a:latin typeface="Calibri"/>
                <a:cs typeface="Calibri"/>
              </a:rPr>
              <a:t> </a:t>
            </a:r>
            <a:r>
              <a:rPr lang="fr-FR" b="1" spc="-10" dirty="0">
                <a:latin typeface="Calibri"/>
                <a:cs typeface="Calibri"/>
              </a:rPr>
              <a:t>Questions</a:t>
            </a:r>
            <a:br>
              <a:rPr lang="fr-FR" dirty="0">
                <a:latin typeface="Calibri"/>
                <a:cs typeface="Calibri"/>
              </a:rPr>
            </a:b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86649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E7F5-9819-1C44-7B30-29E2C183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CB4E-509E-69CC-CFDD-45C6CF2D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n-US" sz="1400" b="1" dirty="0">
                <a:latin typeface="+mn-lt"/>
                <a:cs typeface="Calibri"/>
              </a:rPr>
            </a:br>
            <a:r>
              <a:rPr lang="en-US" sz="1400" b="1" dirty="0">
                <a:latin typeface="+mn-lt"/>
                <a:cs typeface="Calibri"/>
              </a:rPr>
              <a:t>Q</a:t>
            </a:r>
            <a:r>
              <a:rPr lang="en-NG" sz="1400" b="1" dirty="0">
                <a:latin typeface="+mn-lt"/>
              </a:rPr>
              <a:t>1. Calculate the moving average of order values for each customer over their order history. </a:t>
            </a:r>
            <a:br>
              <a:rPr lang="en-NG" sz="1400" b="1" dirty="0">
                <a:latin typeface="+mn-lt"/>
              </a:rPr>
            </a:b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3238B-CABD-A6DD-D571-5EF8B1BEA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2C69C-59C2-8BAA-3FE4-4181A8190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5268" y="963331"/>
            <a:ext cx="51239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A125AED-939D-D65D-A578-9648AA38B1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" y="1248620"/>
            <a:ext cx="4815839" cy="4792868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6370EBA0-64BB-49CE-353A-1F6BECDFD83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580" y="1214668"/>
            <a:ext cx="5114427" cy="49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7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B73C6-1719-5C4D-4057-3421C371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74EF-287F-D8B7-516F-03D47986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+mn-lt"/>
                <a:cs typeface="Calibri"/>
              </a:rPr>
              <a:t>Q</a:t>
            </a:r>
            <a:r>
              <a:rPr lang="en-NG" sz="1400" b="1" dirty="0">
                <a:latin typeface="+mn-lt"/>
              </a:rPr>
              <a:t>2. Calculate the cumulative sales per month for each year. </a:t>
            </a: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00E2A-591B-6634-54DF-085450CC7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E953D-F7AB-30F4-3736-562650424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5268" y="963331"/>
            <a:ext cx="51239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4904112-2569-CA6D-4DB5-00B3B7DB28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4" y="1248620"/>
            <a:ext cx="4940072" cy="4941043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4948427E-DD09-BB7E-D834-A87572BA757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268" y="1248620"/>
            <a:ext cx="4686300" cy="485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22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D373-1A64-E7CE-DBA6-BA0DF854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8363B-F25D-2F23-1D45-6A8CF64C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latin typeface="+mn-lt"/>
                <a:cs typeface="Calibri"/>
              </a:rPr>
              <a:t>Q</a:t>
            </a:r>
            <a:r>
              <a:rPr lang="en-NG" sz="1400" b="1" dirty="0">
                <a:latin typeface="+mn-lt"/>
              </a:rPr>
              <a:t>3. Calculate the year-over-year growth rate of total sales. </a:t>
            </a: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B5C52-2936-7DD8-8BE0-8276993B6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35064-FBBA-FCD3-1A46-644D1C02E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5268" y="963331"/>
            <a:ext cx="5123919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672877-D68C-9C24-C09E-EF2A61AA73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1" y="1313758"/>
            <a:ext cx="4764089" cy="4614863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6FF81D4-CFF2-CEA4-7320-4B7EEB61280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268" y="1313758"/>
            <a:ext cx="4337472" cy="45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04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8FC2-5A6A-26ED-3881-8524FFFF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48BA-E48D-6600-3655-55ED655A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latin typeface="+mn-lt"/>
                <a:cs typeface="Calibri"/>
              </a:rPr>
              <a:t>Q</a:t>
            </a:r>
            <a:r>
              <a:rPr lang="en-NG" sz="1200" b="1" dirty="0">
                <a:latin typeface="+mn-lt"/>
              </a:rPr>
              <a:t>4. Calculate the retention rate of customers, defined as the percentage of customers who make another purchase within 6 months of their first purchase. </a:t>
            </a:r>
            <a:endParaRPr lang="en-US" sz="12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AE067-CD12-BCEF-313C-0EE00C3B0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0349B-ED72-B18C-58F4-2C9C90DE4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75309" y="963331"/>
            <a:ext cx="3209711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4BF056F-1D36-F815-A9EC-0F6406CBE2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3" y="1248620"/>
            <a:ext cx="5084762" cy="485469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00A305E-BE1E-A072-862D-D143D4B68D6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183" y="1345759"/>
            <a:ext cx="4764088" cy="416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34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2361-92B1-C9B0-A738-1C2C98E1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B10F5-2EBE-AA18-0D80-2FC8DE72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82127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n-US" sz="1400" b="1" dirty="0">
                <a:latin typeface="+mn-lt"/>
                <a:cs typeface="Calibri"/>
              </a:rPr>
            </a:br>
            <a:r>
              <a:rPr lang="en-US" sz="1400" b="1" dirty="0">
                <a:latin typeface="+mn-lt"/>
                <a:cs typeface="Calibri"/>
              </a:rPr>
              <a:t>Q</a:t>
            </a:r>
            <a:r>
              <a:rPr lang="en-NG" sz="1400" b="1" dirty="0">
                <a:latin typeface="+mn-lt"/>
              </a:rPr>
              <a:t>5. Identify the top 3 customers who spent the most money in each year.</a:t>
            </a:r>
            <a:br>
              <a:rPr lang="en-NG" sz="1400" b="1" dirty="0">
                <a:latin typeface="+mn-lt"/>
              </a:rPr>
            </a:br>
            <a:endParaRPr lang="en-US" sz="1400" b="1" dirty="0">
              <a:latin typeface="+mn-lt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D8F44-794B-65B5-5FC2-50D0A16E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929379"/>
            <a:ext cx="5157787" cy="285289"/>
          </a:xfrm>
        </p:spPr>
        <p:txBody>
          <a:bodyPr>
            <a:normAutofit/>
          </a:bodyPr>
          <a:lstStyle/>
          <a:p>
            <a:r>
              <a:rPr lang="en-US" sz="1400" dirty="0"/>
              <a:t>Python code </a:t>
            </a:r>
            <a:endParaRPr lang="en-NG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05FD0-9B3C-0101-3E18-A1302D6A7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9589" y="929378"/>
            <a:ext cx="1769532" cy="285289"/>
          </a:xfrm>
        </p:spPr>
        <p:txBody>
          <a:bodyPr>
            <a:normAutofit/>
          </a:bodyPr>
          <a:lstStyle/>
          <a:p>
            <a:r>
              <a:rPr lang="en-US" sz="1400" dirty="0"/>
              <a:t>SQL code</a:t>
            </a:r>
            <a:endParaRPr lang="en-NG" sz="1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26B51A-1AC7-A3F2-46FA-9C8FF0875B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0" y="1396795"/>
            <a:ext cx="4940071" cy="4792868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BEF5216-39FF-39DE-3DC2-A5428B7E3FC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1464699"/>
            <a:ext cx="4706989" cy="456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67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418</Words>
  <Application>Microsoft Office PowerPoint</Application>
  <PresentationFormat>Widescreen</PresentationFormat>
  <Paragraphs>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Office Theme</vt:lpstr>
      <vt:lpstr>Python-SQL-Project</vt:lpstr>
      <vt:lpstr>Basic Level Questions </vt:lpstr>
      <vt:lpstr>Q1. List all unique cities where customers are located.</vt:lpstr>
      <vt:lpstr>Q2. Count the number of orders placed in 2017</vt:lpstr>
      <vt:lpstr>Q3. Find the total sales per category</vt:lpstr>
      <vt:lpstr>Q4. Calculate the percentage of orders that were paid in more than one installment.</vt:lpstr>
      <vt:lpstr>Q5. Count the number of customers from each state.</vt:lpstr>
      <vt:lpstr>Intermediate Level Questions </vt:lpstr>
      <vt:lpstr>Q1. Calculate the number of orders per month in 2018. </vt:lpstr>
      <vt:lpstr> Q2. Find the average number of products per order, grouped by customer city.  </vt:lpstr>
      <vt:lpstr>Q3. Calculate the percentage of total revenue contributed by each product category. </vt:lpstr>
      <vt:lpstr>Q4. Identify the correlation between product price and the number of times a product has been purchased. </vt:lpstr>
      <vt:lpstr>Q5. Calculate the total revenue generated by each seller, and rank them by revenue.</vt:lpstr>
      <vt:lpstr>Advanced Level Questions </vt:lpstr>
      <vt:lpstr> Q1. Calculate the moving average of order values for each customer over their order history.  </vt:lpstr>
      <vt:lpstr>Q2. Calculate the cumulative sales per month for each year. </vt:lpstr>
      <vt:lpstr>Q3. Calculate the year-over-year growth rate of total sales. </vt:lpstr>
      <vt:lpstr>Q4. Calculate the retention rate of customers, defined as the percentage of customers who make another purchase within 6 months of their first purchase. </vt:lpstr>
      <vt:lpstr> Q5. Identify the top 3 customers who spent the most money in each year.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Enwelum Am</dc:creator>
  <cp:lastModifiedBy>Enwelum Am</cp:lastModifiedBy>
  <cp:revision>1</cp:revision>
  <dcterms:created xsi:type="dcterms:W3CDTF">2026-05-04T13:05:26Z</dcterms:created>
  <dcterms:modified xsi:type="dcterms:W3CDTF">2026-05-04T14:00:55Z</dcterms:modified>
</cp:coreProperties>
</file>